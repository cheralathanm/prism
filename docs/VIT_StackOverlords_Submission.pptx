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a:t>
            </a:r>
            <a:r>
              <a:rPr lang="en-US" sz="1600" dirty="0">
                <a:solidFill>
                  <a:srgbClr val="14142B"/>
                </a:solidFill>
                <a:latin typeface="Calibri" pitchFamily="34" charset="0"/>
                <a:ea typeface="Calibri" pitchFamily="34" charset="-122"/>
                <a:cs typeface="Calibri" pitchFamily="34" charset="-120"/>
              </a:rPr>
              <a:t> 05 · Interruptible Real-Time Agents</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a:t>
            </a:r>
            <a:r>
              <a:rPr lang="en-US" sz="1600" dirty="0">
                <a:solidFill>
                  <a:srgbClr val="14142B"/>
                </a:solidFill>
                <a:latin typeface="Calibri" pitchFamily="34" charset="0"/>
                <a:ea typeface="Calibri" pitchFamily="34" charset="-122"/>
                <a:cs typeface="Calibri" pitchFamily="34" charset="-120"/>
              </a:rPr>
              <a:t> Stack Overlords</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a:t>
            </a:r>
            <a:r>
              <a:rPr lang="en-US" sz="1600" dirty="0">
                <a:solidFill>
                  <a:srgbClr val="14142B"/>
                </a:solidFill>
                <a:latin typeface="Calibri" pitchFamily="34" charset="0"/>
                <a:ea typeface="Calibri" pitchFamily="34" charset="-122"/>
                <a:cs typeface="Calibri" pitchFamily="34" charset="-120"/>
              </a:rPr>
              <a:t> Vellore Institute of Technology (VIT)</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a:t>
            </a:r>
            <a:r>
              <a:rPr lang="en-US" sz="1600" dirty="0">
                <a:solidFill>
                  <a:srgbClr val="14142B"/>
                </a:solidFill>
                <a:latin typeface="Calibri" pitchFamily="34" charset="0"/>
                <a:ea typeface="Calibri" pitchFamily="34" charset="-122"/>
                <a:cs typeface="Calibri" pitchFamily="34" charset="-120"/>
              </a:rPr>
              <a:t> Pranav Kumar, pranav.kumar2023@vitstudent.ac.in</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a:t>
            </a:r>
            <a:r>
              <a:rPr lang="en-US" sz="1600" dirty="0">
                <a:solidFill>
                  <a:srgbClr val="14142B"/>
                </a:solidFill>
                <a:latin typeface="Calibri" pitchFamily="34" charset="0"/>
                <a:ea typeface="Calibri" pitchFamily="34" charset="-122"/>
                <a:cs typeface="Calibri" pitchFamily="34" charset="-120"/>
              </a:rPr>
              <a:t> Cheralathan M, cheralathan.m2023@vitstudent.ac.in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a:t>
            </a:r>
            <a:r>
              <a:rPr lang="en-US" sz="1600" dirty="0">
                <a:solidFill>
                  <a:srgbClr val="14142B"/>
                </a:solidFill>
                <a:latin typeface="Calibri" pitchFamily="34" charset="0"/>
                <a:ea typeface="Calibri" pitchFamily="34" charset="-122"/>
                <a:cs typeface="Calibri" pitchFamily="34" charset="-120"/>
              </a:rPr>
              <a:t> Machum Roy Choudhury, machumroy.choudhury2023@vitstudent.ac.in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a:t>
            </a:r>
            <a:r>
              <a:rPr lang="en-US" sz="1600" dirty="0">
                <a:solidFill>
                  <a:srgbClr val="14142B"/>
                </a:solidFill>
                <a:latin typeface="Calibri" pitchFamily="34" charset="0"/>
                <a:ea typeface="Calibri" pitchFamily="34" charset="-122"/>
                <a:cs typeface="Calibri" pitchFamily="34" charset="-120"/>
              </a:rPr>
              <a:t> Vansh Garg, vansh.garg2023@vitstudent.ac.in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a:t>
            </a:r>
            <a:r>
              <a:rPr lang="en-US" sz="1600" dirty="0">
                <a:solidFill>
                  <a:srgbClr val="6D28D9"/>
                </a:solidFill>
                <a:latin typeface="Calibri" pitchFamily="34" charset="0"/>
                <a:ea typeface="Calibri" pitchFamily="34" charset="-122"/>
                <a:cs typeface="Calibri" pitchFamily="34" charset="-120"/>
              </a:rPr>
              <a:t> https://github.com/CheralathanM/Prism</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1000"/>
              </a:spcAft>
            </a:pPr>
            <a:r>
              <a:rPr sz="2000" b="1">
                <a:solidFill>
                  <a:srgbClr val="14142B"/>
                </a:solidFill>
                <a:latin typeface="Calibri"/>
              </a:rPr>
              <a:t>Theme 05: Interruptible Real-Time Agents. </a:t>
            </a:r>
            <a:r>
              <a:rPr sz="2000" b="0">
                <a:solidFill>
                  <a:srgbClr val="63637E"/>
                </a:solidFill>
                <a:latin typeface="Calibri"/>
              </a:rPr>
              <a:t>A voice agent that keeps listening while it thinks, speaks and calls tools, and stays correct when the user interrupts or changes their mind.</a:t>
            </a:r>
            <a:endParaRPr lang="en-IN"/>
          </a:p>
          <a:p>
            <a:pPr>
              <a:spcAft>
                <a:spcPts val="1000"/>
              </a:spcAft>
            </a:pPr>
            <a:r>
              <a:rPr sz="2000" b="1">
                <a:solidFill>
                  <a:srgbClr val="14142B"/>
                </a:solidFill>
                <a:latin typeface="Calibri"/>
              </a:rPr>
              <a:t>Benchmark: </a:t>
            </a:r>
            <a:r>
              <a:rPr sz="2000" b="0">
                <a:solidFill>
                  <a:srgbClr val="63637E"/>
                </a:solidFill>
                <a:latin typeface="Calibri"/>
              </a:rPr>
              <a:t>Full-Duplex-Bench v3 (FDB-v3). Real spoken, disfluent requests (false starts, self-corrections, hesitations); a request passes only if the right tool calls are made.</a:t>
            </a:r>
          </a:p>
          <a:p>
            <a:pPr>
              <a:spcAft>
                <a:spcPts val="1000"/>
              </a:spcAft>
            </a:pPr>
            <a:r>
              <a:rPr sz="2000" b="1">
                <a:solidFill>
                  <a:srgbClr val="14142B"/>
                </a:solidFill>
                <a:latin typeface="Calibri"/>
              </a:rPr>
              <a:t>What we built: </a:t>
            </a:r>
            <a:r>
              <a:rPr sz="2000" b="0">
                <a:solidFill>
                  <a:srgbClr val="63637E"/>
                </a:solidFill>
                <a:latin typeface="Calibri"/>
              </a:rPr>
              <a:t>fdagent, a LiveKit voice agent built on a deterministic session kernel, plus an in-car extension and a browser demo UI.</a:t>
            </a:r>
          </a:p>
          <a:p>
            <a:pPr>
              <a:spcAft>
                <a:spcPts val="1000"/>
              </a:spcAft>
            </a:pPr>
            <a:r>
              <a:rPr sz="2000" b="1">
                <a:solidFill>
                  <a:srgbClr val="14142B"/>
                </a:solidFill>
                <a:latin typeface="Calibri"/>
              </a:rPr>
              <a:t>Constraints we set ourselves: </a:t>
            </a:r>
            <a:r>
              <a:rPr sz="2000" b="0">
                <a:solidFill>
                  <a:srgbClr val="63637E"/>
                </a:solidFill>
                <a:latin typeface="Calibri"/>
              </a:rPr>
              <a:t>zero API cost, and no benchmark knowledge in code, prompts or tests (enforced by an automated integrity test).</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Rounded Rectangle 2"/>
          <p:cNvSpPr/>
          <p:nvPr/>
        </p:nvSpPr>
        <p:spPr>
          <a:xfrm>
            <a:off x="841248" y="1828800"/>
            <a:ext cx="3383280" cy="2331720"/>
          </a:xfrm>
          <a:prstGeom prst="roundRect">
            <a:avLst>
              <a:gd name="adj" fmla="val 7000"/>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938528"/>
            <a:ext cx="3017520" cy="411480"/>
          </a:xfrm>
          <a:prstGeom prst="rect">
            <a:avLst/>
          </a:prstGeom>
          <a:noFill/>
        </p:spPr>
        <p:txBody>
          <a:bodyPr wrap="square" anchor="t" lIns="36576" rIns="36576">
            <a:spAutoFit/>
          </a:bodyPr>
          <a:lstStyle/>
          <a:p>
            <a:pPr algn="l">
              <a:spcAft>
                <a:spcPts val="500"/>
              </a:spcAft>
            </a:pPr>
            <a:r>
              <a:rPr sz="1800" b="1">
                <a:solidFill>
                  <a:srgbClr val="3F68DE"/>
                </a:solidFill>
                <a:latin typeface="Calibri"/>
              </a:rPr>
              <a:t>Cascaded pipelines</a:t>
            </a:r>
          </a:p>
        </p:txBody>
      </p:sp>
      <p:sp>
        <p:nvSpPr>
          <p:cNvPr id="5" name="TextBox 4"/>
          <p:cNvSpPr txBox="1"/>
          <p:nvPr/>
        </p:nvSpPr>
        <p:spPr>
          <a:xfrm>
            <a:off x="1024128" y="2395728"/>
            <a:ext cx="3017520" cy="1691639"/>
          </a:xfrm>
          <a:prstGeom prst="rect">
            <a:avLst/>
          </a:prstGeom>
          <a:noFill/>
        </p:spPr>
        <p:txBody>
          <a:bodyPr wrap="square" anchor="t" lIns="36576" rIns="36576">
            <a:spAutoFit/>
          </a:bodyPr>
          <a:lstStyle/>
          <a:p>
            <a:pPr algn="l">
              <a:spcAft>
                <a:spcPts val="500"/>
              </a:spcAft>
            </a:pPr>
            <a:r>
              <a:rPr sz="1400" b="1">
                <a:solidFill>
                  <a:srgbClr val="6D28D9"/>
                </a:solidFill>
                <a:latin typeface="Calibri"/>
              </a:rPr>
              <a:t>• </a:t>
            </a:r>
            <a:r>
              <a:rPr sz="1400" b="0">
                <a:solidFill>
                  <a:srgbClr val="14142B"/>
                </a:solidFill>
                <a:latin typeface="Calibri"/>
              </a:rPr>
              <a:t>STT → LLM → tools → TTS, one turn at a time</a:t>
            </a:r>
          </a:p>
          <a:p>
            <a:pPr algn="l">
              <a:spcAft>
                <a:spcPts val="500"/>
              </a:spcAft>
            </a:pPr>
            <a:r>
              <a:rPr sz="1400" b="1">
                <a:solidFill>
                  <a:srgbClr val="6D28D9"/>
                </a:solidFill>
                <a:latin typeface="Calibri"/>
              </a:rPr>
              <a:t>• </a:t>
            </a:r>
            <a:r>
              <a:rPr sz="1400" b="0">
                <a:solidFill>
                  <a:srgbClr val="14142B"/>
                </a:solidFill>
                <a:latin typeface="Calibri"/>
              </a:rPr>
              <a:t>Barge-in usually just stops the audio</a:t>
            </a:r>
          </a:p>
          <a:p>
            <a:pPr algn="l">
              <a:spcAft>
                <a:spcPts val="500"/>
              </a:spcAft>
            </a:pPr>
            <a:r>
              <a:rPr sz="1400" b="1">
                <a:solidFill>
                  <a:srgbClr val="6D28D9"/>
                </a:solidFill>
                <a:latin typeface="Calibri"/>
              </a:rPr>
              <a:t>• </a:t>
            </a:r>
            <a:r>
              <a:rPr sz="1400" b="0">
                <a:solidFill>
                  <a:srgbClr val="14142B"/>
                </a:solidFill>
                <a:latin typeface="Calibri"/>
              </a:rPr>
              <a:t>Tool calls fire on the first version of the request</a:t>
            </a:r>
          </a:p>
        </p:txBody>
      </p:sp>
      <p:sp>
        <p:nvSpPr>
          <p:cNvPr id="6" name="Rounded Rectangle 5"/>
          <p:cNvSpPr/>
          <p:nvPr/>
        </p:nvSpPr>
        <p:spPr>
          <a:xfrm>
            <a:off x="4407408" y="1828800"/>
            <a:ext cx="3383280" cy="2331720"/>
          </a:xfrm>
          <a:prstGeom prst="roundRect">
            <a:avLst>
              <a:gd name="adj" fmla="val 7000"/>
            </a:avLst>
          </a:prstGeom>
          <a:solidFill>
            <a:srgbClr val="E6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0288" y="1938528"/>
            <a:ext cx="3017520" cy="411480"/>
          </a:xfrm>
          <a:prstGeom prst="rect">
            <a:avLst/>
          </a:prstGeom>
          <a:noFill/>
        </p:spPr>
        <p:txBody>
          <a:bodyPr wrap="square" anchor="t" lIns="36576" rIns="36576">
            <a:spAutoFit/>
          </a:bodyPr>
          <a:lstStyle/>
          <a:p>
            <a:pPr algn="l">
              <a:spcAft>
                <a:spcPts val="500"/>
              </a:spcAft>
            </a:pPr>
            <a:r>
              <a:rPr sz="1800" b="1">
                <a:solidFill>
                  <a:srgbClr val="2E8C84"/>
                </a:solidFill>
                <a:latin typeface="Calibri"/>
              </a:rPr>
              <a:t>End-to-end speech models</a:t>
            </a:r>
          </a:p>
        </p:txBody>
      </p:sp>
      <p:sp>
        <p:nvSpPr>
          <p:cNvPr id="8" name="TextBox 7"/>
          <p:cNvSpPr txBox="1"/>
          <p:nvPr/>
        </p:nvSpPr>
        <p:spPr>
          <a:xfrm>
            <a:off x="4590288" y="2395728"/>
            <a:ext cx="3017520" cy="1691639"/>
          </a:xfrm>
          <a:prstGeom prst="rect">
            <a:avLst/>
          </a:prstGeom>
          <a:noFill/>
        </p:spPr>
        <p:txBody>
          <a:bodyPr wrap="square" anchor="t" lIns="36576" rIns="36576">
            <a:spAutoFit/>
          </a:bodyPr>
          <a:lstStyle/>
          <a:p>
            <a:pPr algn="l">
              <a:spcAft>
                <a:spcPts val="500"/>
              </a:spcAft>
            </a:pPr>
            <a:r>
              <a:rPr sz="1400" b="1">
                <a:solidFill>
                  <a:srgbClr val="6D28D9"/>
                </a:solidFill>
                <a:latin typeface="Calibri"/>
              </a:rPr>
              <a:t>• </a:t>
            </a:r>
            <a:r>
              <a:rPr sz="1400" b="0">
                <a:solidFill>
                  <a:srgbClr val="14142B"/>
                </a:solidFill>
                <a:latin typeface="Calibri"/>
              </a:rPr>
              <a:t>Natural turn-taking</a:t>
            </a:r>
          </a:p>
          <a:p>
            <a:pPr algn="l">
              <a:spcAft>
                <a:spcPts val="500"/>
              </a:spcAft>
            </a:pPr>
            <a:r>
              <a:rPr sz="1400" b="1">
                <a:solidFill>
                  <a:srgbClr val="6D28D9"/>
                </a:solidFill>
                <a:latin typeface="Calibri"/>
              </a:rPr>
              <a:t>• </a:t>
            </a:r>
            <a:r>
              <a:rPr sz="1400" b="0">
                <a:solidFill>
                  <a:srgbClr val="14142B"/>
                </a:solidFill>
                <a:latin typeface="Calibri"/>
              </a:rPr>
              <a:t>Tool use is hard to audit or reproduce</a:t>
            </a:r>
          </a:p>
          <a:p>
            <a:pPr algn="l">
              <a:spcAft>
                <a:spcPts val="500"/>
              </a:spcAft>
            </a:pPr>
            <a:r>
              <a:rPr sz="1400" b="1">
                <a:solidFill>
                  <a:srgbClr val="6D28D9"/>
                </a:solidFill>
                <a:latin typeface="Calibri"/>
              </a:rPr>
              <a:t>• </a:t>
            </a:r>
            <a:r>
              <a:rPr sz="1400" b="0">
                <a:solidFill>
                  <a:srgbClr val="14142B"/>
                </a:solidFill>
                <a:latin typeface="Calibri"/>
              </a:rPr>
              <a:t>No guarantee a booking or order happens exactly once</a:t>
            </a:r>
          </a:p>
        </p:txBody>
      </p:sp>
      <p:sp>
        <p:nvSpPr>
          <p:cNvPr id="9" name="Rounded Rectangle 8"/>
          <p:cNvSpPr/>
          <p:nvPr/>
        </p:nvSpPr>
        <p:spPr>
          <a:xfrm>
            <a:off x="7973568" y="1828800"/>
            <a:ext cx="3383280" cy="2331720"/>
          </a:xfrm>
          <a:prstGeom prst="roundRect">
            <a:avLst>
              <a:gd name="adj" fmla="val 7000"/>
            </a:avLst>
          </a:prstGeom>
          <a:solidFill>
            <a:srgbClr val="FD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6448" y="1938528"/>
            <a:ext cx="3017520" cy="411480"/>
          </a:xfrm>
          <a:prstGeom prst="rect">
            <a:avLst/>
          </a:prstGeom>
          <a:noFill/>
        </p:spPr>
        <p:txBody>
          <a:bodyPr wrap="square" anchor="t" lIns="36576" rIns="36576">
            <a:spAutoFit/>
          </a:bodyPr>
          <a:lstStyle/>
          <a:p>
            <a:pPr algn="l">
              <a:spcAft>
                <a:spcPts val="500"/>
              </a:spcAft>
            </a:pPr>
            <a:r>
              <a:rPr sz="1800" b="1">
                <a:solidFill>
                  <a:srgbClr val="B3261E"/>
                </a:solidFill>
                <a:latin typeface="Calibri"/>
              </a:rPr>
              <a:t>Gaps we target</a:t>
            </a:r>
          </a:p>
        </p:txBody>
      </p:sp>
      <p:sp>
        <p:nvSpPr>
          <p:cNvPr id="11" name="TextBox 10"/>
          <p:cNvSpPr txBox="1"/>
          <p:nvPr/>
        </p:nvSpPr>
        <p:spPr>
          <a:xfrm>
            <a:off x="8156448" y="2395728"/>
            <a:ext cx="3017520" cy="1691639"/>
          </a:xfrm>
          <a:prstGeom prst="rect">
            <a:avLst/>
          </a:prstGeom>
          <a:noFill/>
        </p:spPr>
        <p:txBody>
          <a:bodyPr wrap="square" anchor="t" lIns="36576" rIns="36576">
            <a:spAutoFit/>
          </a:bodyPr>
          <a:lstStyle/>
          <a:p>
            <a:pPr algn="l">
              <a:spcAft>
                <a:spcPts val="500"/>
              </a:spcAft>
            </a:pPr>
            <a:r>
              <a:rPr sz="1400" b="1">
                <a:solidFill>
                  <a:srgbClr val="6D28D9"/>
                </a:solidFill>
                <a:latin typeface="Calibri"/>
              </a:rPr>
              <a:t>• </a:t>
            </a:r>
            <a:r>
              <a:rPr sz="1400" b="0">
                <a:solidFill>
                  <a:srgbClr val="14142B"/>
                </a:solidFill>
                <a:latin typeface="Calibri"/>
              </a:rPr>
              <a:t>Late results applied after the user changed their mind</a:t>
            </a:r>
          </a:p>
          <a:p>
            <a:pPr algn="l">
              <a:spcAft>
                <a:spcPts val="500"/>
              </a:spcAft>
            </a:pPr>
            <a:r>
              <a:rPr sz="1400" b="1">
                <a:solidFill>
                  <a:srgbClr val="6D28D9"/>
                </a:solidFill>
                <a:latin typeface="Calibri"/>
              </a:rPr>
              <a:t>• </a:t>
            </a:r>
            <a:r>
              <a:rPr sz="1400" b="0">
                <a:solidFill>
                  <a:srgbClr val="14142B"/>
                </a:solidFill>
                <a:latin typeface="Calibri"/>
              </a:rPr>
              <a:t>Duplicate side effects on retries</a:t>
            </a:r>
          </a:p>
          <a:p>
            <a:pPr algn="l">
              <a:spcAft>
                <a:spcPts val="500"/>
              </a:spcAft>
            </a:pPr>
            <a:r>
              <a:rPr sz="1400" b="1">
                <a:solidFill>
                  <a:srgbClr val="6D28D9"/>
                </a:solidFill>
                <a:latin typeface="Calibri"/>
              </a:rPr>
              <a:t>• </a:t>
            </a:r>
            <a:r>
              <a:rPr sz="1400" b="0">
                <a:solidFill>
                  <a:srgbClr val="14142B"/>
                </a:solidFill>
                <a:latin typeface="Calibri"/>
              </a:rPr>
              <a:t>No single owner of conversation state; no replay</a:t>
            </a:r>
          </a:p>
        </p:txBody>
      </p:sp>
      <p:sp>
        <p:nvSpPr>
          <p:cNvPr id="12" name="TextBox 11"/>
          <p:cNvSpPr txBox="1"/>
          <p:nvPr/>
        </p:nvSpPr>
        <p:spPr>
          <a:xfrm>
            <a:off x="841248" y="4526280"/>
            <a:ext cx="10515600" cy="1188720"/>
          </a:xfrm>
          <a:prstGeom prst="rect">
            <a:avLst/>
          </a:prstGeom>
          <a:noFill/>
        </p:spPr>
        <p:txBody>
          <a:bodyPr wrap="square" anchor="t" lIns="36576" rIns="36576">
            <a:spAutoFit/>
          </a:bodyPr>
          <a:lstStyle/>
          <a:p>
            <a:pPr algn="l">
              <a:spcAft>
                <a:spcPts val="500"/>
              </a:spcAft>
            </a:pPr>
            <a:r>
              <a:rPr sz="1800" b="1">
                <a:solidFill>
                  <a:srgbClr val="6D28D9"/>
                </a:solidFill>
                <a:latin typeface="Calibri"/>
              </a:rPr>
              <a:t>Our answer: </a:t>
            </a:r>
            <a:r>
              <a:rPr sz="1800" b="0">
                <a:solidFill>
                  <a:srgbClr val="14142B"/>
                </a:solidFill>
                <a:latin typeface="Calibri"/>
              </a:rPr>
              <a:t>keep the models asynchronous, but let exactly one deterministic component decide what is executed and what is said, and journal every decision so any session can be replayed.</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Rounded Rectangle 2"/>
          <p:cNvSpPr/>
          <p:nvPr/>
        </p:nvSpPr>
        <p:spPr>
          <a:xfrm>
            <a:off x="841248" y="1783080"/>
            <a:ext cx="1463040" cy="731520"/>
          </a:xfrm>
          <a:prstGeom prst="roundRect">
            <a:avLst>
              <a:gd name="adj" fmla="val 7000"/>
            </a:avLst>
          </a:prstGeom>
          <a:solidFill>
            <a:srgbClr val="F6F5FA"/>
          </a:solidFill>
          <a:ln w="15875">
            <a:solidFill>
              <a:srgbClr val="DDDA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14142B"/>
                </a:solidFill>
                <a:latin typeface="Calibri"/>
              </a:rPr>
              <a:t>Mic</a:t>
            </a:r>
          </a:p>
          <a:p>
            <a:pPr algn="ctr"/>
            <a:r>
              <a:rPr sz="1100" b="0">
                <a:solidFill>
                  <a:srgbClr val="63637E"/>
                </a:solidFill>
                <a:latin typeface="Calibri"/>
              </a:rPr>
              <a:t>LiveKit room</a:t>
            </a:r>
          </a:p>
        </p:txBody>
      </p:sp>
      <p:sp>
        <p:nvSpPr>
          <p:cNvPr id="4" name="Rounded Rectangle 3"/>
          <p:cNvSpPr/>
          <p:nvPr/>
        </p:nvSpPr>
        <p:spPr>
          <a:xfrm>
            <a:off x="2578608" y="1783080"/>
            <a:ext cx="1600200" cy="731520"/>
          </a:xfrm>
          <a:prstGeom prst="roundRect">
            <a:avLst>
              <a:gd name="adj" fmla="val 7000"/>
            </a:avLst>
          </a:prstGeom>
          <a:solidFill>
            <a:srgbClr val="F6F5FA"/>
          </a:solidFill>
          <a:ln w="15875">
            <a:solidFill>
              <a:srgbClr val="DDDA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14142B"/>
                </a:solidFill>
                <a:latin typeface="Calibri"/>
              </a:rPr>
              <a:t>Silero VAD</a:t>
            </a:r>
          </a:p>
          <a:p>
            <a:pPr algn="ctr"/>
            <a:r>
              <a:rPr sz="1100" b="0">
                <a:solidFill>
                  <a:srgbClr val="63637E"/>
                </a:solidFill>
                <a:latin typeface="Calibri"/>
              </a:rPr>
              <a:t>speech on/off</a:t>
            </a:r>
          </a:p>
        </p:txBody>
      </p:sp>
      <p:sp>
        <p:nvSpPr>
          <p:cNvPr id="5" name="Rounded Rectangle 4"/>
          <p:cNvSpPr/>
          <p:nvPr/>
        </p:nvSpPr>
        <p:spPr>
          <a:xfrm>
            <a:off x="4453128" y="1783080"/>
            <a:ext cx="1874519" cy="731520"/>
          </a:xfrm>
          <a:prstGeom prst="roundRect">
            <a:avLst>
              <a:gd name="adj" fmla="val 7000"/>
            </a:avLst>
          </a:prstGeom>
          <a:solidFill>
            <a:srgbClr val="F6F5FA"/>
          </a:solidFill>
          <a:ln w="15875">
            <a:solidFill>
              <a:srgbClr val="DDDA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14142B"/>
                </a:solidFill>
                <a:latin typeface="Calibri"/>
              </a:rPr>
              <a:t>Whisper STT</a:t>
            </a:r>
          </a:p>
          <a:p>
            <a:pPr algn="ctr"/>
            <a:r>
              <a:rPr sz="1100" b="0">
                <a:solidFill>
                  <a:srgbClr val="63637E"/>
                </a:solidFill>
                <a:latin typeface="Calibri"/>
              </a:rPr>
              <a:t>separate process</a:t>
            </a:r>
          </a:p>
        </p:txBody>
      </p:sp>
      <p:sp>
        <p:nvSpPr>
          <p:cNvPr id="6" name="Rounded Rectangle 5"/>
          <p:cNvSpPr/>
          <p:nvPr/>
        </p:nvSpPr>
        <p:spPr>
          <a:xfrm>
            <a:off x="6601968" y="1783080"/>
            <a:ext cx="1783080" cy="731520"/>
          </a:xfrm>
          <a:prstGeom prst="roundRect">
            <a:avLst>
              <a:gd name="adj" fmla="val 7000"/>
            </a:avLst>
          </a:prstGeom>
          <a:solidFill>
            <a:srgbClr val="F6F5FA"/>
          </a:solidFill>
          <a:ln w="15875">
            <a:solidFill>
              <a:srgbClr val="DDDA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14142B"/>
                </a:solidFill>
                <a:latin typeface="Calibri"/>
              </a:rPr>
              <a:t>Ordered inbox</a:t>
            </a:r>
          </a:p>
          <a:p>
            <a:pPr algn="ctr"/>
            <a:r>
              <a:rPr sz="1100" b="0">
                <a:solidFill>
                  <a:srgbClr val="63637E"/>
                </a:solidFill>
                <a:latin typeface="Calibri"/>
              </a:rPr>
              <a:t>events, in order</a:t>
            </a:r>
          </a:p>
        </p:txBody>
      </p:sp>
      <p:cxnSp>
        <p:nvCxnSpPr>
          <p:cNvPr id="7" name="Connector 6"/>
          <p:cNvCxnSpPr/>
          <p:nvPr/>
        </p:nvCxnSpPr>
        <p:spPr>
          <a:xfrm>
            <a:off x="2304288" y="2148840"/>
            <a:ext cx="274320" cy="0"/>
          </a:xfrm>
          <a:prstGeom prst="line">
            <a:avLst/>
          </a:prstGeom>
          <a:ln w="22225">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178808" y="2148840"/>
            <a:ext cx="274320" cy="0"/>
          </a:xfrm>
          <a:prstGeom prst="line">
            <a:avLst/>
          </a:prstGeom>
          <a:ln w="22225">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327648" y="2148840"/>
            <a:ext cx="274320" cy="0"/>
          </a:xfrm>
          <a:prstGeom prst="line">
            <a:avLst/>
          </a:prstGeom>
          <a:ln w="22225">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126480" y="2926080"/>
            <a:ext cx="2743200" cy="1280160"/>
          </a:xfrm>
          <a:prstGeom prst="roundRect">
            <a:avLst>
              <a:gd name="adj" fmla="val 7000"/>
            </a:avLst>
          </a:prstGeom>
          <a:solidFill>
            <a:srgbClr val="14142B"/>
          </a:solidFill>
          <a:ln w="15875">
            <a:solidFill>
              <a:srgbClr val="14142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800" b="1">
                <a:solidFill>
                  <a:srgbClr val="FFFFFF"/>
                </a:solidFill>
                <a:latin typeface="Calibri"/>
              </a:rPr>
              <a:t>SESSION KERNEL</a:t>
            </a:r>
          </a:p>
          <a:p>
            <a:pPr algn="ctr"/>
            <a:r>
              <a:rPr sz="1100" b="0">
                <a:solidFill>
                  <a:srgbClr val="C9C9DA"/>
                </a:solidFill>
                <a:latin typeface="Calibri"/>
              </a:rPr>
              <a:t>single writer · pure step(event) → actions
no I/O, no clock, no randomness</a:t>
            </a:r>
          </a:p>
        </p:txBody>
      </p:sp>
      <p:cxnSp>
        <p:nvCxnSpPr>
          <p:cNvPr id="11" name="Connector 10"/>
          <p:cNvCxnSpPr/>
          <p:nvPr/>
        </p:nvCxnSpPr>
        <p:spPr>
          <a:xfrm>
            <a:off x="7498079" y="2514600"/>
            <a:ext cx="0" cy="411480"/>
          </a:xfrm>
          <a:prstGeom prst="line">
            <a:avLst/>
          </a:prstGeom>
          <a:ln w="22225">
            <a:solidFill>
              <a:srgbClr val="1414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89720" y="3136392"/>
            <a:ext cx="2167128" cy="868680"/>
          </a:xfrm>
          <a:prstGeom prst="roundRect">
            <a:avLst>
              <a:gd name="adj" fmla="val 7000"/>
            </a:avLst>
          </a:prstGeom>
          <a:solidFill>
            <a:srgbClr val="E6F5F3"/>
          </a:solidFill>
          <a:ln w="15875">
            <a:solidFill>
              <a:srgbClr val="2E8C8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2E8C84"/>
                </a:solidFill>
                <a:latin typeface="Calibri"/>
              </a:rPr>
              <a:t>Journal (JSONL)</a:t>
            </a:r>
          </a:p>
          <a:p>
            <a:pPr algn="ctr"/>
            <a:r>
              <a:rPr sz="1100" b="0">
                <a:solidFill>
                  <a:srgbClr val="63637E"/>
                </a:solidFill>
                <a:latin typeface="Calibri"/>
              </a:rPr>
              <a:t>every decision · identical replay</a:t>
            </a:r>
          </a:p>
        </p:txBody>
      </p:sp>
      <p:cxnSp>
        <p:nvCxnSpPr>
          <p:cNvPr id="13" name="Connector 12"/>
          <p:cNvCxnSpPr/>
          <p:nvPr/>
        </p:nvCxnSpPr>
        <p:spPr>
          <a:xfrm>
            <a:off x="8869680" y="3566160"/>
            <a:ext cx="320040" cy="0"/>
          </a:xfrm>
          <a:prstGeom prst="line">
            <a:avLst/>
          </a:prstGeom>
          <a:ln w="22225">
            <a:solidFill>
              <a:srgbClr val="2E8C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41248" y="4892040"/>
            <a:ext cx="2651760" cy="960120"/>
          </a:xfrm>
          <a:prstGeom prst="roundRect">
            <a:avLst>
              <a:gd name="adj" fmla="val 7000"/>
            </a:avLst>
          </a:prstGeom>
          <a:solidFill>
            <a:srgbClr val="F1EAFC"/>
          </a:solidFill>
          <a:ln w="15875">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6D28D9"/>
                </a:solidFill>
                <a:latin typeface="Calibri"/>
              </a:rPr>
              <a:t>Planner worker</a:t>
            </a:r>
          </a:p>
          <a:p>
            <a:pPr algn="ctr"/>
            <a:r>
              <a:rPr sz="1100" b="0">
                <a:solidFill>
                  <a:srgbClr val="63637E"/>
                </a:solidFill>
                <a:latin typeface="Calibri"/>
              </a:rPr>
              <a:t>Gemini (free tier): JSON plan only,
never executes tools</a:t>
            </a:r>
          </a:p>
        </p:txBody>
      </p:sp>
      <p:sp>
        <p:nvSpPr>
          <p:cNvPr id="15" name="Rounded Rectangle 14"/>
          <p:cNvSpPr/>
          <p:nvPr/>
        </p:nvSpPr>
        <p:spPr>
          <a:xfrm>
            <a:off x="3721608" y="4892040"/>
            <a:ext cx="2514600" cy="960120"/>
          </a:xfrm>
          <a:prstGeom prst="roundRect">
            <a:avLst>
              <a:gd name="adj" fmla="val 7000"/>
            </a:avLst>
          </a:prstGeom>
          <a:solidFill>
            <a:srgbClr val="F1EAFC"/>
          </a:solidFill>
          <a:ln w="15875">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6D28D9"/>
                </a:solidFill>
                <a:latin typeface="Calibri"/>
              </a:rPr>
              <a:t>Tool executor</a:t>
            </a:r>
          </a:p>
          <a:p>
            <a:pPr algn="ctr"/>
            <a:r>
              <a:rPr sz="1100" b="0">
                <a:solidFill>
                  <a:srgbClr val="63637E"/>
                </a:solidFill>
                <a:latin typeface="Calibri"/>
              </a:rPr>
              <a:t>idempotency keys, timeouts,
advisory cancel</a:t>
            </a:r>
          </a:p>
        </p:txBody>
      </p:sp>
      <p:sp>
        <p:nvSpPr>
          <p:cNvPr id="16" name="Rounded Rectangle 15"/>
          <p:cNvSpPr/>
          <p:nvPr/>
        </p:nvSpPr>
        <p:spPr>
          <a:xfrm>
            <a:off x="6464808" y="4892040"/>
            <a:ext cx="2514600" cy="960120"/>
          </a:xfrm>
          <a:prstGeom prst="roundRect">
            <a:avLst>
              <a:gd name="adj" fmla="val 7000"/>
            </a:avLst>
          </a:prstGeom>
          <a:solidFill>
            <a:srgbClr val="F1EAFC"/>
          </a:solidFill>
          <a:ln w="15875">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6D28D9"/>
                </a:solidFill>
                <a:latin typeface="Calibri"/>
              </a:rPr>
              <a:t>Speech channel</a:t>
            </a:r>
          </a:p>
          <a:p>
            <a:pPr algn="ctr"/>
            <a:r>
              <a:rPr sz="1100" b="0">
                <a:solidFill>
                  <a:srgbClr val="63637E"/>
                </a:solidFill>
                <a:latin typeface="Calibri"/>
              </a:rPr>
              <a:t>ordered; stops on barge-in;
drops stale speech</a:t>
            </a:r>
          </a:p>
        </p:txBody>
      </p:sp>
      <p:sp>
        <p:nvSpPr>
          <p:cNvPr id="17" name="Rounded Rectangle 16"/>
          <p:cNvSpPr/>
          <p:nvPr/>
        </p:nvSpPr>
        <p:spPr>
          <a:xfrm>
            <a:off x="9189720" y="4892040"/>
            <a:ext cx="2167128" cy="960120"/>
          </a:xfrm>
          <a:prstGeom prst="roundRect">
            <a:avLst>
              <a:gd name="adj" fmla="val 7000"/>
            </a:avLst>
          </a:prstGeom>
          <a:solidFill>
            <a:srgbClr val="F6F5FA"/>
          </a:solidFill>
          <a:ln w="15875">
            <a:solidFill>
              <a:srgbClr val="DDDA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rgbClr val="14142B"/>
                </a:solidFill>
                <a:latin typeface="Calibri"/>
              </a:rPr>
              <a:t>Piper TTS → LiveKit</a:t>
            </a:r>
          </a:p>
          <a:p>
            <a:pPr algn="ctr"/>
            <a:r>
              <a:rPr sz="1100" b="0">
                <a:solidFill>
                  <a:srgbClr val="63637E"/>
                </a:solidFill>
                <a:latin typeface="Calibri"/>
              </a:rPr>
              <a:t>local voice, streamed</a:t>
            </a:r>
          </a:p>
        </p:txBody>
      </p:sp>
      <p:cxnSp>
        <p:nvCxnSpPr>
          <p:cNvPr id="18" name="Connector 17"/>
          <p:cNvCxnSpPr/>
          <p:nvPr/>
        </p:nvCxnSpPr>
        <p:spPr>
          <a:xfrm flipH="1">
            <a:off x="2167128" y="4206240"/>
            <a:ext cx="4507992" cy="68580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983480" y="4206240"/>
            <a:ext cx="2103120" cy="68580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635240" y="4206240"/>
            <a:ext cx="91439" cy="68580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979408" y="5376672"/>
            <a:ext cx="210312" cy="0"/>
          </a:xfrm>
          <a:prstGeom prst="line">
            <a:avLst/>
          </a:prstGeom>
          <a:ln w="22225">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41248" y="2880360"/>
            <a:ext cx="5074920" cy="1828800"/>
          </a:xfrm>
          <a:prstGeom prst="rect">
            <a:avLst/>
          </a:prstGeom>
          <a:noFill/>
        </p:spPr>
        <p:txBody>
          <a:bodyPr wrap="square" anchor="t" lIns="36576" rIns="36576">
            <a:spAutoFit/>
          </a:bodyPr>
          <a:lstStyle/>
          <a:p>
            <a:pPr algn="l">
              <a:spcAft>
                <a:spcPts val="500"/>
              </a:spcAft>
            </a:pPr>
            <a:r>
              <a:rPr sz="1500" b="1">
                <a:solidFill>
                  <a:srgbClr val="6D28D9"/>
                </a:solidFill>
                <a:latin typeface="Calibri"/>
              </a:rPr>
              <a:t>Async intelligence, deterministic state. </a:t>
            </a:r>
            <a:r>
              <a:rPr sz="1500" b="0">
                <a:solidFill>
                  <a:srgbClr val="63637E"/>
                </a:solidFill>
                <a:latin typeface="Calibri"/>
              </a:rPr>
              <a:t>STT, planner, tools and TTS run asynchronously and only </a:t>
            </a:r>
            <a:r>
              <a:rPr sz="1500" b="1">
                <a:solidFill>
                  <a:srgbClr val="14142B"/>
                </a:solidFill>
                <a:latin typeface="Calibri"/>
              </a:rPr>
              <a:t>propose</a:t>
            </a:r>
            <a:r>
              <a:rPr sz="1500" b="0">
                <a:solidFill>
                  <a:srgbClr val="63637E"/>
                </a:solidFill>
                <a:latin typeface="Calibri"/>
              </a:rPr>
              <a:t>.</a:t>
            </a:r>
          </a:p>
          <a:p>
            <a:pPr algn="l">
              <a:spcAft>
                <a:spcPts val="500"/>
              </a:spcAft>
            </a:pPr>
            <a:r>
              <a:rPr sz="1500" b="1">
                <a:solidFill>
                  <a:srgbClr val="14142B"/>
                </a:solidFill>
                <a:latin typeface="Calibri"/>
              </a:rPr>
              <a:t>The kernel alone </a:t>
            </a:r>
            <a:r>
              <a:rPr sz="1500" b="0">
                <a:solidFill>
                  <a:srgbClr val="63637E"/>
                </a:solidFill>
                <a:latin typeface="Calibri"/>
              </a:rPr>
              <a:t>changes state, dispatches and cancels tools, admits results and decides what is spoken. Results come back as events through the same inbox, so every race is resolved in one place.</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pic>
        <p:nvPicPr>
          <p:cNvPr id="3" name="Picture 2" descr="ui_demo_clean.png"/>
          <p:cNvPicPr>
            <a:picLocks noChangeAspect="1"/>
          </p:cNvPicPr>
          <p:nvPr/>
        </p:nvPicPr>
        <p:blipFill>
          <a:blip r:embed="rId2"/>
          <a:stretch>
            <a:fillRect/>
          </a:stretch>
        </p:blipFill>
        <p:spPr>
          <a:xfrm>
            <a:off x="5074920" y="1828800"/>
            <a:ext cx="6281928" cy="3801148"/>
          </a:xfrm>
          <a:prstGeom prst="rect">
            <a:avLst/>
          </a:prstGeom>
          <a:ln>
            <a:solidFill>
              <a:srgbClr val="DDDAE8"/>
            </a:solidFill>
          </a:ln>
        </p:spPr>
      </p:pic>
      <p:sp>
        <p:nvSpPr>
          <p:cNvPr id="4" name="TextBox 3"/>
          <p:cNvSpPr txBox="1"/>
          <p:nvPr/>
        </p:nvSpPr>
        <p:spPr>
          <a:xfrm>
            <a:off x="5074920" y="5675668"/>
            <a:ext cx="6281928" cy="274320"/>
          </a:xfrm>
          <a:prstGeom prst="rect">
            <a:avLst/>
          </a:prstGeom>
          <a:noFill/>
        </p:spPr>
        <p:txBody>
          <a:bodyPr wrap="square" anchor="t" lIns="36576" rIns="36576">
            <a:spAutoFit/>
          </a:bodyPr>
          <a:lstStyle/>
          <a:p>
            <a:pPr algn="l">
              <a:spcAft>
                <a:spcPts val="500"/>
              </a:spcAft>
            </a:pPr>
            <a:r>
              <a:rPr sz="1100" b="0">
                <a:solidFill>
                  <a:srgbClr val="63637E"/>
                </a:solidFill>
                <a:latin typeface="Calibri"/>
              </a:rPr>
              <a:t>Demo UI after a run. Every item on screen comes from the real kernel journal.</a:t>
            </a:r>
          </a:p>
        </p:txBody>
      </p:sp>
      <p:sp>
        <p:nvSpPr>
          <p:cNvPr id="5" name="TextBox 4"/>
          <p:cNvSpPr txBox="1"/>
          <p:nvPr/>
        </p:nvSpPr>
        <p:spPr>
          <a:xfrm>
            <a:off x="841248" y="1828800"/>
            <a:ext cx="4069080" cy="3566160"/>
          </a:xfrm>
          <a:prstGeom prst="rect">
            <a:avLst/>
          </a:prstGeom>
          <a:noFill/>
        </p:spPr>
        <p:txBody>
          <a:bodyPr wrap="square" anchor="t" lIns="36576" rIns="36576">
            <a:spAutoFit/>
          </a:bodyPr>
          <a:lstStyle/>
          <a:p>
            <a:pPr algn="l">
              <a:spcAft>
                <a:spcPts val="500"/>
              </a:spcAft>
            </a:pPr>
            <a:r>
              <a:rPr sz="1600" b="1">
                <a:solidFill>
                  <a:srgbClr val="6D28D9"/>
                </a:solidFill>
                <a:latin typeface="Calibri"/>
              </a:rPr>
              <a:t>1. </a:t>
            </a:r>
            <a:r>
              <a:rPr sz="1600" b="1">
                <a:solidFill>
                  <a:srgbClr val="14142B"/>
                </a:solidFill>
                <a:latin typeface="Calibri"/>
              </a:rPr>
              <a:t>Ask: </a:t>
            </a:r>
            <a:r>
              <a:rPr sz="1600" b="0">
                <a:solidFill>
                  <a:srgbClr val="63637E"/>
                </a:solidFill>
                <a:latin typeface="Calibri"/>
              </a:rPr>
              <a:t>“Take me to the museum.” The agent plans the route and starts to answer.</a:t>
            </a:r>
          </a:p>
          <a:p>
            <a:pPr algn="l">
              <a:spcAft>
                <a:spcPts val="500"/>
              </a:spcAft>
            </a:pPr>
            <a:r>
              <a:rPr sz="1600" b="1">
                <a:solidFill>
                  <a:srgbClr val="6D28D9"/>
                </a:solidFill>
                <a:latin typeface="Calibri"/>
              </a:rPr>
              <a:t>2. </a:t>
            </a:r>
            <a:r>
              <a:rPr sz="1600" b="1">
                <a:solidFill>
                  <a:srgbClr val="14142B"/>
                </a:solidFill>
                <a:latin typeface="Calibri"/>
              </a:rPr>
              <a:t>Interrupt: </a:t>
            </a:r>
            <a:r>
              <a:rPr sz="1600" b="0">
                <a:solidFill>
                  <a:srgbClr val="63637E"/>
                </a:solidFill>
                <a:latin typeface="Calibri"/>
              </a:rPr>
              <a:t>“Actually, go to the harbour instead,” while it is still talking.</a:t>
            </a:r>
          </a:p>
          <a:p>
            <a:pPr algn="l">
              <a:spcAft>
                <a:spcPts val="500"/>
              </a:spcAft>
            </a:pPr>
            <a:r>
              <a:rPr sz="1600" b="1">
                <a:solidFill>
                  <a:srgbClr val="6D28D9"/>
                </a:solidFill>
                <a:latin typeface="Calibri"/>
              </a:rPr>
              <a:t>3. </a:t>
            </a:r>
            <a:r>
              <a:rPr sz="1600" b="1">
                <a:solidFill>
                  <a:srgbClr val="14142B"/>
                </a:solidFill>
                <a:latin typeface="Calibri"/>
              </a:rPr>
              <a:t>See it: </a:t>
            </a:r>
            <a:r>
              <a:rPr sz="1600" b="0">
                <a:solidFill>
                  <a:srgbClr val="63637E"/>
                </a:solidFill>
                <a:latin typeface="Calibri"/>
              </a:rPr>
              <a:t>speech stops, INTERRUPTED; the museum route is superseded and its late result rejected.</a:t>
            </a:r>
          </a:p>
          <a:p>
            <a:pPr algn="l">
              <a:spcAft>
                <a:spcPts val="500"/>
              </a:spcAft>
            </a:pPr>
            <a:r>
              <a:rPr sz="1600" b="1">
                <a:solidFill>
                  <a:srgbClr val="6D28D9"/>
                </a:solidFill>
                <a:latin typeface="Calibri"/>
              </a:rPr>
              <a:t>4. </a:t>
            </a:r>
            <a:r>
              <a:rPr sz="1600" b="1">
                <a:solidFill>
                  <a:srgbClr val="14142B"/>
                </a:solidFill>
                <a:latin typeface="Calibri"/>
              </a:rPr>
              <a:t>Result: </a:t>
            </a:r>
            <a:r>
              <a:rPr sz="1600" b="0">
                <a:solidFill>
                  <a:srgbClr val="63637E"/>
                </a:solidFill>
                <a:latin typeface="Calibri"/>
              </a:rPr>
              <a:t>the harbour route is planned and navigation starts exactly once, with the new ETA.</a:t>
            </a:r>
          </a:p>
          <a:p>
            <a:pPr algn="l">
              <a:spcAft>
                <a:spcPts val="500"/>
              </a:spcAft>
            </a:pPr>
            <a:r>
              <a:rPr sz="1600" b="1">
                <a:solidFill>
                  <a:srgbClr val="6D28D9"/>
                </a:solidFill>
                <a:latin typeface="Calibri"/>
              </a:rPr>
              <a:t>5. </a:t>
            </a:r>
            <a:r>
              <a:rPr sz="1600" b="1">
                <a:solidFill>
                  <a:srgbClr val="14142B"/>
                </a:solidFill>
                <a:latin typeface="Calibri"/>
              </a:rPr>
              <a:t>Replay: </a:t>
            </a:r>
            <a:r>
              <a:rPr sz="1600" b="0">
                <a:solidFill>
                  <a:srgbClr val="63637E"/>
                </a:solidFill>
                <a:latin typeface="Calibri"/>
              </a:rPr>
              <a:t>re-execute the journal; decisions and actions are identical.</a:t>
            </a:r>
          </a:p>
        </p:txBody>
      </p:sp>
      <p:sp>
        <p:nvSpPr>
          <p:cNvPr id="6" name="TextBox 5"/>
          <p:cNvSpPr txBox="1"/>
          <p:nvPr/>
        </p:nvSpPr>
        <p:spPr>
          <a:xfrm>
            <a:off x="841248" y="5440680"/>
            <a:ext cx="4069080" cy="731520"/>
          </a:xfrm>
          <a:prstGeom prst="rect">
            <a:avLst/>
          </a:prstGeom>
          <a:noFill/>
        </p:spPr>
        <p:txBody>
          <a:bodyPr wrap="square" anchor="t" lIns="36576" rIns="36576">
            <a:spAutoFit/>
          </a:bodyPr>
          <a:lstStyle/>
          <a:p>
            <a:pPr algn="l">
              <a:spcAft>
                <a:spcPts val="500"/>
              </a:spcAft>
            </a:pPr>
            <a:r>
              <a:rPr sz="1300" b="1">
                <a:solidFill>
                  <a:srgbClr val="14142B"/>
                </a:solidFill>
                <a:latin typeface="Calibri"/>
              </a:rPr>
              <a:t>Run: </a:t>
            </a:r>
            <a:r>
              <a:rPr sz="1200" b="0">
                <a:solidFill>
                  <a:srgbClr val="63637E"/>
                </a:solidFill>
                <a:latin typeface="Consolas"/>
              </a:rPr>
              <a:t>python -m fdagent.extensions.incar.ui</a:t>
            </a:r>
          </a:p>
          <a:p>
            <a:pPr algn="l">
              <a:spcAft>
                <a:spcPts val="500"/>
              </a:spcAft>
            </a:pPr>
            <a:r>
              <a:rPr sz="1300" b="1">
                <a:solidFill>
                  <a:srgbClr val="14142B"/>
                </a:solidFill>
                <a:latin typeface="Calibri"/>
              </a:rPr>
              <a:t>Video: </a:t>
            </a:r>
            <a:r>
              <a:rPr sz="1300" b="0">
                <a:solidFill>
                  <a:srgbClr val="6D28D9"/>
                </a:solidFill>
                <a:latin typeface="Calibri"/>
              </a:rPr>
              <a:t>https://youtu.be/sMvY18ipvdg</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graphicFrame>
        <p:nvGraphicFramePr>
          <p:cNvPr id="3" name="Table 2"/>
          <p:cNvGraphicFramePr>
            <a:graphicFrameLocks noGrp="1"/>
          </p:cNvGraphicFramePr>
          <p:nvPr/>
        </p:nvGraphicFramePr>
        <p:xfrm>
          <a:off x="841248" y="1828800"/>
          <a:ext cx="10515600" cy="3785616"/>
        </p:xfrm>
        <a:graphic>
          <a:graphicData uri="http://schemas.openxmlformats.org/drawingml/2006/table">
            <a:tbl>
              <a:tblPr firstRow="1" bandRow="1">
                <a:tableStyleId>{5C22544A-7EE6-4342-B048-85BDC9FD1C3A}</a:tableStyleId>
              </a:tblPr>
              <a:tblGrid>
                <a:gridCol w="2148840"/>
                <a:gridCol w="5166360"/>
                <a:gridCol w="3200400"/>
              </a:tblGrid>
              <a:tr h="420624">
                <a:tc>
                  <a:txBody>
                    <a:bodyPr/>
                    <a:lstStyle/>
                    <a:p>
                      <a:r>
                        <a:rPr sz="1300" b="1">
                          <a:solidFill>
                            <a:srgbClr val="FFFFFF"/>
                          </a:solidFill>
                          <a:latin typeface="Calibri"/>
                        </a:rPr>
                        <a:t>Role</a:t>
                      </a:r>
                    </a:p>
                  </a:txBody>
                  <a:tcPr marL="91440" marR="91440" marT="36576" marB="36576" anchor="ctr">
                    <a:solidFill>
                      <a:srgbClr val="704EA6"/>
                    </a:solidFill>
                  </a:tcPr>
                </a:tc>
                <a:tc>
                  <a:txBody>
                    <a:bodyPr/>
                    <a:lstStyle/>
                    <a:p>
                      <a:r>
                        <a:rPr sz="1300" b="1">
                          <a:solidFill>
                            <a:srgbClr val="FFFFFF"/>
                          </a:solidFill>
                          <a:latin typeface="Calibri"/>
                        </a:rPr>
                        <a:t>Tool</a:t>
                      </a:r>
                    </a:p>
                  </a:txBody>
                  <a:tcPr marL="91440" marR="91440" marT="36576" marB="36576" anchor="ctr">
                    <a:solidFill>
                      <a:srgbClr val="704EA6"/>
                    </a:solidFill>
                  </a:tcPr>
                </a:tc>
                <a:tc>
                  <a:txBody>
                    <a:bodyPr/>
                    <a:lstStyle/>
                    <a:p>
                      <a:r>
                        <a:rPr sz="1300" b="1">
                          <a:solidFill>
                            <a:srgbClr val="FFFFFF"/>
                          </a:solidFill>
                          <a:latin typeface="Calibri"/>
                        </a:rPr>
                        <a:t>Runs where / cost</a:t>
                      </a:r>
                    </a:p>
                  </a:txBody>
                  <a:tcPr marL="91440" marR="91440" marT="36576" marB="36576" anchor="ctr">
                    <a:solidFill>
                      <a:srgbClr val="704EA6"/>
                    </a:solidFill>
                  </a:tcPr>
                </a:tc>
              </a:tr>
              <a:tr h="420624">
                <a:tc>
                  <a:txBody>
                    <a:bodyPr/>
                    <a:lstStyle/>
                    <a:p>
                      <a:r>
                        <a:rPr sz="1300" b="1">
                          <a:solidFill>
                            <a:srgbClr val="14142B"/>
                          </a:solidFill>
                          <a:latin typeface="Calibri"/>
                        </a:rPr>
                        <a:t>Real-time transport</a:t>
                      </a:r>
                    </a:p>
                  </a:txBody>
                  <a:tcPr marL="91440" marR="91440" marT="36576" marB="36576" anchor="ctr">
                    <a:solidFill>
                      <a:srgbClr val="F6F5FA"/>
                    </a:solidFill>
                  </a:tcPr>
                </a:tc>
                <a:tc>
                  <a:txBody>
                    <a:bodyPr/>
                    <a:lstStyle/>
                    <a:p>
                      <a:r>
                        <a:rPr sz="1300" b="0">
                          <a:solidFill>
                            <a:srgbClr val="63637E"/>
                          </a:solidFill>
                          <a:latin typeface="Calibri"/>
                        </a:rPr>
                        <a:t>LiveKit Agents 1.8.3 + LiveKit Cloud</a:t>
                      </a:r>
                    </a:p>
                  </a:txBody>
                  <a:tcPr marL="91440" marR="91440" marT="36576" marB="36576" anchor="ctr">
                    <a:solidFill>
                      <a:srgbClr val="F6F5FA"/>
                    </a:solidFill>
                  </a:tcPr>
                </a:tc>
                <a:tc>
                  <a:txBody>
                    <a:bodyPr/>
                    <a:lstStyle/>
                    <a:p>
                      <a:r>
                        <a:rPr sz="1300" b="0">
                          <a:solidFill>
                            <a:srgbClr val="63637E"/>
                          </a:solidFill>
                          <a:latin typeface="Calibri"/>
                        </a:rPr>
                        <a:t>Cloud, free Build plan</a:t>
                      </a:r>
                    </a:p>
                  </a:txBody>
                  <a:tcPr marL="91440" marR="91440" marT="36576" marB="36576" anchor="ctr">
                    <a:solidFill>
                      <a:srgbClr val="F6F5FA"/>
                    </a:solidFill>
                  </a:tcPr>
                </a:tc>
              </a:tr>
              <a:tr h="420624">
                <a:tc>
                  <a:txBody>
                    <a:bodyPr/>
                    <a:lstStyle/>
                    <a:p>
                      <a:r>
                        <a:rPr sz="1300" b="1">
                          <a:solidFill>
                            <a:srgbClr val="14142B"/>
                          </a:solidFill>
                          <a:latin typeface="Calibri"/>
                        </a:rPr>
                        <a:t>Voice activity detection</a:t>
                      </a:r>
                    </a:p>
                  </a:txBody>
                  <a:tcPr marL="91440" marR="91440" marT="36576" marB="36576" anchor="ctr">
                    <a:solidFill>
                      <a:srgbClr val="FFFFFF"/>
                    </a:solidFill>
                  </a:tcPr>
                </a:tc>
                <a:tc>
                  <a:txBody>
                    <a:bodyPr/>
                    <a:lstStyle/>
                    <a:p>
                      <a:r>
                        <a:rPr sz="1300" b="0">
                          <a:solidFill>
                            <a:srgbClr val="63637E"/>
                          </a:solidFill>
                          <a:latin typeface="Calibri"/>
                        </a:rPr>
                        <a:t>Silero VAD (LiveKit plugin)</a:t>
                      </a:r>
                    </a:p>
                  </a:txBody>
                  <a:tcPr marL="91440" marR="91440" marT="36576" marB="36576" anchor="ctr">
                    <a:solidFill>
                      <a:srgbClr val="FFFFFF"/>
                    </a:solidFill>
                  </a:tcPr>
                </a:tc>
                <a:tc>
                  <a:txBody>
                    <a:bodyPr/>
                    <a:lstStyle/>
                    <a:p>
                      <a:r>
                        <a:rPr sz="1300" b="0">
                          <a:solidFill>
                            <a:srgbClr val="63637E"/>
                          </a:solidFill>
                          <a:latin typeface="Calibri"/>
                        </a:rPr>
                        <a:t>Local CPU, free</a:t>
                      </a:r>
                    </a:p>
                  </a:txBody>
                  <a:tcPr marL="91440" marR="91440" marT="36576" marB="36576" anchor="ctr">
                    <a:solidFill>
                      <a:srgbClr val="FFFFFF"/>
                    </a:solidFill>
                  </a:tcPr>
                </a:tc>
              </a:tr>
              <a:tr h="420624">
                <a:tc>
                  <a:txBody>
                    <a:bodyPr/>
                    <a:lstStyle/>
                    <a:p>
                      <a:r>
                        <a:rPr sz="1300" b="1">
                          <a:solidFill>
                            <a:srgbClr val="14142B"/>
                          </a:solidFill>
                          <a:latin typeface="Calibri"/>
                        </a:rPr>
                        <a:t>Speech-to-text</a:t>
                      </a:r>
                    </a:p>
                  </a:txBody>
                  <a:tcPr marL="91440" marR="91440" marT="36576" marB="36576" anchor="ctr">
                    <a:solidFill>
                      <a:srgbClr val="F6F5FA"/>
                    </a:solidFill>
                  </a:tcPr>
                </a:tc>
                <a:tc>
                  <a:txBody>
                    <a:bodyPr/>
                    <a:lstStyle/>
                    <a:p>
                      <a:r>
                        <a:rPr sz="1300" b="0">
                          <a:solidFill>
                            <a:srgbClr val="63637E"/>
                          </a:solidFill>
                          <a:latin typeface="Calibri"/>
                        </a:rPr>
                        <a:t>Whisper base.en (Hugging Face transformers), in its own process</a:t>
                      </a:r>
                    </a:p>
                  </a:txBody>
                  <a:tcPr marL="91440" marR="91440" marT="36576" marB="36576" anchor="ctr">
                    <a:solidFill>
                      <a:srgbClr val="F6F5FA"/>
                    </a:solidFill>
                  </a:tcPr>
                </a:tc>
                <a:tc>
                  <a:txBody>
                    <a:bodyPr/>
                    <a:lstStyle/>
                    <a:p>
                      <a:r>
                        <a:rPr sz="1300" b="0">
                          <a:solidFill>
                            <a:srgbClr val="63637E"/>
                          </a:solidFill>
                          <a:latin typeface="Calibri"/>
                        </a:rPr>
                        <a:t>Local CPU, free</a:t>
                      </a:r>
                    </a:p>
                  </a:txBody>
                  <a:tcPr marL="91440" marR="91440" marT="36576" marB="36576" anchor="ctr">
                    <a:solidFill>
                      <a:srgbClr val="F6F5FA"/>
                    </a:solidFill>
                  </a:tcPr>
                </a:tc>
              </a:tr>
              <a:tr h="420624">
                <a:tc>
                  <a:txBody>
                    <a:bodyPr/>
                    <a:lstStyle/>
                    <a:p>
                      <a:r>
                        <a:rPr sz="1300" b="1">
                          <a:solidFill>
                            <a:srgbClr val="14142B"/>
                          </a:solidFill>
                          <a:latin typeface="Calibri"/>
                        </a:rPr>
                        <a:t>Planner (LLM)</a:t>
                      </a:r>
                    </a:p>
                  </a:txBody>
                  <a:tcPr marL="91440" marR="91440" marT="36576" marB="36576" anchor="ctr">
                    <a:solidFill>
                      <a:srgbClr val="FFFFFF"/>
                    </a:solidFill>
                  </a:tcPr>
                </a:tc>
                <a:tc>
                  <a:txBody>
                    <a:bodyPr/>
                    <a:lstStyle/>
                    <a:p>
                      <a:r>
                        <a:rPr sz="1300" b="0">
                          <a:solidFill>
                            <a:srgbClr val="63637E"/>
                          </a:solidFill>
                          <a:latin typeface="Calibri"/>
                        </a:rPr>
                        <a:t>Gemini 3.5 flash-lite via OpenAI-compatible endpoint</a:t>
                      </a:r>
                    </a:p>
                  </a:txBody>
                  <a:tcPr marL="91440" marR="91440" marT="36576" marB="36576" anchor="ctr">
                    <a:solidFill>
                      <a:srgbClr val="FFFFFF"/>
                    </a:solidFill>
                  </a:tcPr>
                </a:tc>
                <a:tc>
                  <a:txBody>
                    <a:bodyPr/>
                    <a:lstStyle/>
                    <a:p>
                      <a:r>
                        <a:rPr sz="1300" b="0">
                          <a:solidFill>
                            <a:srgbClr val="63637E"/>
                          </a:solidFill>
                          <a:latin typeface="Calibri"/>
                        </a:rPr>
                        <a:t>Google AI Studio free tier</a:t>
                      </a:r>
                    </a:p>
                  </a:txBody>
                  <a:tcPr marL="91440" marR="91440" marT="36576" marB="36576" anchor="ctr">
                    <a:solidFill>
                      <a:srgbClr val="FFFFFF"/>
                    </a:solidFill>
                  </a:tcPr>
                </a:tc>
              </a:tr>
              <a:tr h="420624">
                <a:tc>
                  <a:txBody>
                    <a:bodyPr/>
                    <a:lstStyle/>
                    <a:p>
                      <a:r>
                        <a:rPr sz="1300" b="1">
                          <a:solidFill>
                            <a:srgbClr val="14142B"/>
                          </a:solidFill>
                          <a:latin typeface="Calibri"/>
                        </a:rPr>
                        <a:t>Text-to-speech</a:t>
                      </a:r>
                    </a:p>
                  </a:txBody>
                  <a:tcPr marL="91440" marR="91440" marT="36576" marB="36576" anchor="ctr">
                    <a:solidFill>
                      <a:srgbClr val="F6F5FA"/>
                    </a:solidFill>
                  </a:tcPr>
                </a:tc>
                <a:tc>
                  <a:txBody>
                    <a:bodyPr/>
                    <a:lstStyle/>
                    <a:p>
                      <a:r>
                        <a:rPr sz="1300" b="0">
                          <a:solidFill>
                            <a:srgbClr val="63637E"/>
                          </a:solidFill>
                          <a:latin typeface="Calibri"/>
                        </a:rPr>
                        <a:t>Piper en_US-lessac-medium</a:t>
                      </a:r>
                    </a:p>
                  </a:txBody>
                  <a:tcPr marL="91440" marR="91440" marT="36576" marB="36576" anchor="ctr">
                    <a:solidFill>
                      <a:srgbClr val="F6F5FA"/>
                    </a:solidFill>
                  </a:tcPr>
                </a:tc>
                <a:tc>
                  <a:txBody>
                    <a:bodyPr/>
                    <a:lstStyle/>
                    <a:p>
                      <a:r>
                        <a:rPr sz="1300" b="0">
                          <a:solidFill>
                            <a:srgbClr val="63637E"/>
                          </a:solidFill>
                          <a:latin typeface="Calibri"/>
                        </a:rPr>
                        <a:t>Local CPU, free</a:t>
                      </a:r>
                    </a:p>
                  </a:txBody>
                  <a:tcPr marL="91440" marR="91440" marT="36576" marB="36576" anchor="ctr">
                    <a:solidFill>
                      <a:srgbClr val="F6F5FA"/>
                    </a:solidFill>
                  </a:tcPr>
                </a:tc>
              </a:tr>
              <a:tr h="420624">
                <a:tc>
                  <a:txBody>
                    <a:bodyPr/>
                    <a:lstStyle/>
                    <a:p>
                      <a:r>
                        <a:rPr sz="1300" b="1">
                          <a:solidFill>
                            <a:srgbClr val="14142B"/>
                          </a:solidFill>
                          <a:latin typeface="Calibri"/>
                        </a:rPr>
                        <a:t>Agent core</a:t>
                      </a:r>
                    </a:p>
                  </a:txBody>
                  <a:tcPr marL="91440" marR="91440" marT="36576" marB="36576" anchor="ctr">
                    <a:solidFill>
                      <a:srgbClr val="FFFFFF"/>
                    </a:solidFill>
                  </a:tcPr>
                </a:tc>
                <a:tc>
                  <a:txBody>
                    <a:bodyPr/>
                    <a:lstStyle/>
                    <a:p>
                      <a:r>
                        <a:rPr sz="1300" b="0">
                          <a:solidFill>
                            <a:srgbClr val="63637E"/>
                          </a:solidFill>
                          <a:latin typeface="Calibri"/>
                        </a:rPr>
                        <a:t>Python 3.12 asyncio; deterministic kernel; JSONL journal and replay</a:t>
                      </a:r>
                    </a:p>
                  </a:txBody>
                  <a:tcPr marL="91440" marR="91440" marT="36576" marB="36576" anchor="ctr">
                    <a:solidFill>
                      <a:srgbClr val="FFFFFF"/>
                    </a:solidFill>
                  </a:tcPr>
                </a:tc>
                <a:tc>
                  <a:txBody>
                    <a:bodyPr/>
                    <a:lstStyle/>
                    <a:p>
                      <a:r>
                        <a:rPr sz="1300" b="0">
                          <a:solidFill>
                            <a:srgbClr val="63637E"/>
                          </a:solidFill>
                          <a:latin typeface="Calibri"/>
                        </a:rPr>
                        <a:t>Local</a:t>
                      </a:r>
                    </a:p>
                  </a:txBody>
                  <a:tcPr marL="91440" marR="91440" marT="36576" marB="36576" anchor="ctr">
                    <a:solidFill>
                      <a:srgbClr val="FFFFFF"/>
                    </a:solidFill>
                  </a:tcPr>
                </a:tc>
              </a:tr>
              <a:tr h="420624">
                <a:tc>
                  <a:txBody>
                    <a:bodyPr/>
                    <a:lstStyle/>
                    <a:p>
                      <a:r>
                        <a:rPr sz="1300" b="1">
                          <a:solidFill>
                            <a:srgbClr val="14142B"/>
                          </a:solidFill>
                          <a:latin typeface="Calibri"/>
                        </a:rPr>
                        <a:t>Demo UI</a:t>
                      </a:r>
                    </a:p>
                  </a:txBody>
                  <a:tcPr marL="91440" marR="91440" marT="36576" marB="36576" anchor="ctr">
                    <a:solidFill>
                      <a:srgbClr val="F6F5FA"/>
                    </a:solidFill>
                  </a:tcPr>
                </a:tc>
                <a:tc>
                  <a:txBody>
                    <a:bodyPr/>
                    <a:lstStyle/>
                    <a:p>
                      <a:r>
                        <a:rPr sz="1300" b="0">
                          <a:solidFill>
                            <a:srgbClr val="63637E"/>
                          </a:solidFill>
                          <a:latin typeface="Calibri"/>
                        </a:rPr>
                        <a:t>aiohttp + Server-Sent Events + plain HTML/JS</a:t>
                      </a:r>
                    </a:p>
                  </a:txBody>
                  <a:tcPr marL="91440" marR="91440" marT="36576" marB="36576" anchor="ctr">
                    <a:solidFill>
                      <a:srgbClr val="F6F5FA"/>
                    </a:solidFill>
                  </a:tcPr>
                </a:tc>
                <a:tc>
                  <a:txBody>
                    <a:bodyPr/>
                    <a:lstStyle/>
                    <a:p>
                      <a:r>
                        <a:rPr sz="1300" b="0">
                          <a:solidFill>
                            <a:srgbClr val="63637E"/>
                          </a:solidFill>
                          <a:latin typeface="Calibri"/>
                        </a:rPr>
                        <a:t>Local, no build step</a:t>
                      </a:r>
                    </a:p>
                  </a:txBody>
                  <a:tcPr marL="91440" marR="91440" marT="36576" marB="36576" anchor="ctr">
                    <a:solidFill>
                      <a:srgbClr val="F6F5FA"/>
                    </a:solidFill>
                  </a:tcPr>
                </a:tc>
              </a:tr>
              <a:tr h="420624">
                <a:tc>
                  <a:txBody>
                    <a:bodyPr/>
                    <a:lstStyle/>
                    <a:p>
                      <a:r>
                        <a:rPr sz="1300" b="1">
                          <a:solidFill>
                            <a:srgbClr val="14142B"/>
                          </a:solidFill>
                          <a:latin typeface="Calibri"/>
                        </a:rPr>
                        <a:t>Evaluation</a:t>
                      </a:r>
                    </a:p>
                  </a:txBody>
                  <a:tcPr marL="91440" marR="91440" marT="36576" marB="36576" anchor="ctr">
                    <a:solidFill>
                      <a:srgbClr val="FFFFFF"/>
                    </a:solidFill>
                  </a:tcPr>
                </a:tc>
                <a:tc>
                  <a:txBody>
                    <a:bodyPr/>
                    <a:lstStyle/>
                    <a:p>
                      <a:r>
                        <a:rPr sz="1300" b="0">
                          <a:solidFill>
                            <a:srgbClr val="63637E"/>
                          </a:solidFill>
                          <a:latin typeface="Calibri"/>
                        </a:rPr>
                        <a:t>pytest (176 tests); official FDB-v3 harness, unmodified</a:t>
                      </a:r>
                    </a:p>
                  </a:txBody>
                  <a:tcPr marL="91440" marR="91440" marT="36576" marB="36576" anchor="ctr">
                    <a:solidFill>
                      <a:srgbClr val="FFFFFF"/>
                    </a:solidFill>
                  </a:tcPr>
                </a:tc>
                <a:tc>
                  <a:txBody>
                    <a:bodyPr/>
                    <a:lstStyle/>
                    <a:p>
                      <a:r>
                        <a:rPr sz="1300" b="0">
                          <a:solidFill>
                            <a:srgbClr val="63637E"/>
                          </a:solidFill>
                          <a:latin typeface="Calibri"/>
                        </a:rPr>
                        <a:t>Local</a:t>
                      </a:r>
                    </a:p>
                  </a:txBody>
                  <a:tcPr marL="91440" marR="91440" marT="36576" marB="36576" anchor="ctr">
                    <a:solidFill>
                      <a:srgbClr val="FFFFFF"/>
                    </a:solidFill>
                  </a:tcPr>
                </a:tc>
              </a:tr>
            </a:tbl>
          </a:graphicData>
        </a:graphic>
      </p:graphicFrame>
      <p:sp>
        <p:nvSpPr>
          <p:cNvPr id="4" name="TextBox 3"/>
          <p:cNvSpPr txBox="1"/>
          <p:nvPr/>
        </p:nvSpPr>
        <p:spPr>
          <a:xfrm>
            <a:off x="841248" y="5806440"/>
            <a:ext cx="10515600" cy="365760"/>
          </a:xfrm>
          <a:prstGeom prst="rect">
            <a:avLst/>
          </a:prstGeom>
          <a:noFill/>
        </p:spPr>
        <p:txBody>
          <a:bodyPr wrap="square" anchor="t" lIns="36576" rIns="36576">
            <a:spAutoFit/>
          </a:bodyPr>
          <a:lstStyle/>
          <a:p>
            <a:pPr algn="l">
              <a:spcAft>
                <a:spcPts val="500"/>
              </a:spcAft>
            </a:pPr>
            <a:r>
              <a:rPr sz="1300" b="0">
                <a:solidFill>
                  <a:srgbClr val="63637E"/>
                </a:solidFill>
                <a:latin typeface="Calibri"/>
              </a:rPr>
              <a:t>No paid API is required. An optional OpenAI stack exists but is not the default.</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Rounded Rectangle 2"/>
          <p:cNvSpPr/>
          <p:nvPr/>
        </p:nvSpPr>
        <p:spPr>
          <a:xfrm>
            <a:off x="841248" y="1828800"/>
            <a:ext cx="5120640" cy="2331720"/>
          </a:xfrm>
          <a:prstGeom prst="roundRect">
            <a:avLst>
              <a:gd name="adj" fmla="val 7000"/>
            </a:avLst>
          </a:prstGeom>
          <a:solidFill>
            <a:srgbClr val="F1E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938528"/>
            <a:ext cx="4754879" cy="411480"/>
          </a:xfrm>
          <a:prstGeom prst="rect">
            <a:avLst/>
          </a:prstGeom>
          <a:noFill/>
        </p:spPr>
        <p:txBody>
          <a:bodyPr wrap="square" anchor="t" lIns="36576" rIns="36576">
            <a:spAutoFit/>
          </a:bodyPr>
          <a:lstStyle/>
          <a:p>
            <a:pPr algn="l">
              <a:spcAft>
                <a:spcPts val="500"/>
              </a:spcAft>
            </a:pPr>
            <a:r>
              <a:rPr sz="1800" b="1">
                <a:solidFill>
                  <a:srgbClr val="6D28D9"/>
                </a:solidFill>
                <a:latin typeface="Calibri"/>
              </a:rPr>
              <a:t>Use case: in-car assistant</a:t>
            </a:r>
          </a:p>
        </p:txBody>
      </p:sp>
      <p:sp>
        <p:nvSpPr>
          <p:cNvPr id="5" name="TextBox 4"/>
          <p:cNvSpPr txBox="1"/>
          <p:nvPr/>
        </p:nvSpPr>
        <p:spPr>
          <a:xfrm>
            <a:off x="1024128" y="2395728"/>
            <a:ext cx="4754879" cy="1691639"/>
          </a:xfrm>
          <a:prstGeom prst="rect">
            <a:avLst/>
          </a:prstGeom>
          <a:noFill/>
        </p:spPr>
        <p:txBody>
          <a:bodyPr wrap="square" anchor="t" lIns="36576" rIns="36576">
            <a:spAutoFit/>
          </a:bodyPr>
          <a:lstStyle/>
          <a:p>
            <a:pPr algn="l">
              <a:spcAft>
                <a:spcPts val="500"/>
              </a:spcAft>
            </a:pPr>
            <a:r>
              <a:rPr sz="1400" b="1">
                <a:solidFill>
                  <a:srgbClr val="6D28D9"/>
                </a:solidFill>
                <a:latin typeface="Calibri"/>
              </a:rPr>
              <a:t>• </a:t>
            </a:r>
            <a:r>
              <a:rPr sz="1400" b="0">
                <a:solidFill>
                  <a:srgbClr val="14142B"/>
                </a:solidFill>
                <a:latin typeface="Calibri"/>
              </a:rPr>
              <a:t>Driver asks for a destination, then changes it mid-sentence</a:t>
            </a:r>
          </a:p>
          <a:p>
            <a:pPr algn="l">
              <a:spcAft>
                <a:spcPts val="500"/>
              </a:spcAft>
            </a:pPr>
            <a:r>
              <a:rPr sz="1400" b="1">
                <a:solidFill>
                  <a:srgbClr val="6D28D9"/>
                </a:solidFill>
                <a:latin typeface="Calibri"/>
              </a:rPr>
              <a:t>• </a:t>
            </a:r>
            <a:r>
              <a:rPr sz="1400" b="0">
                <a:solidFill>
                  <a:srgbClr val="14142B"/>
                </a:solidFill>
                <a:latin typeface="Calibri"/>
              </a:rPr>
              <a:t>The agent stops talking, drops the old route and starts navigation exactly once, to the new destination</a:t>
            </a:r>
          </a:p>
          <a:p>
            <a:pPr algn="l">
              <a:spcAft>
                <a:spcPts val="500"/>
              </a:spcAft>
            </a:pPr>
            <a:r>
              <a:rPr sz="1400" b="1">
                <a:solidFill>
                  <a:srgbClr val="6D28D9"/>
                </a:solidFill>
                <a:latin typeface="Calibri"/>
              </a:rPr>
              <a:t>• </a:t>
            </a:r>
            <a:r>
              <a:rPr sz="1400" b="0">
                <a:solidFill>
                  <a:srgbClr val="14142B"/>
                </a:solidFill>
                <a:latin typeface="Calibri"/>
              </a:rPr>
              <a:t>Built on the unchanged kernel: 2 tool specs + mock car backend</a:t>
            </a:r>
          </a:p>
        </p:txBody>
      </p:sp>
      <p:sp>
        <p:nvSpPr>
          <p:cNvPr id="6" name="Rounded Rectangle 5"/>
          <p:cNvSpPr/>
          <p:nvPr/>
        </p:nvSpPr>
        <p:spPr>
          <a:xfrm>
            <a:off x="6236208" y="1828800"/>
            <a:ext cx="5120640" cy="2331720"/>
          </a:xfrm>
          <a:prstGeom prst="roundRect">
            <a:avLst>
              <a:gd name="adj" fmla="val 7000"/>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19088" y="1938528"/>
            <a:ext cx="4754879" cy="411480"/>
          </a:xfrm>
          <a:prstGeom prst="rect">
            <a:avLst/>
          </a:prstGeom>
          <a:noFill/>
        </p:spPr>
        <p:txBody>
          <a:bodyPr wrap="square" anchor="t" lIns="36576" rIns="36576">
            <a:spAutoFit/>
          </a:bodyPr>
          <a:lstStyle/>
          <a:p>
            <a:pPr algn="l">
              <a:spcAft>
                <a:spcPts val="500"/>
              </a:spcAft>
            </a:pPr>
            <a:r>
              <a:rPr sz="1800" b="1">
                <a:solidFill>
                  <a:srgbClr val="3F68DE"/>
                </a:solidFill>
                <a:latin typeface="Calibri"/>
              </a:rPr>
              <a:t>Also: service and booking agents</a:t>
            </a:r>
          </a:p>
        </p:txBody>
      </p:sp>
      <p:sp>
        <p:nvSpPr>
          <p:cNvPr id="8" name="TextBox 7"/>
          <p:cNvSpPr txBox="1"/>
          <p:nvPr/>
        </p:nvSpPr>
        <p:spPr>
          <a:xfrm>
            <a:off x="6419088" y="2395728"/>
            <a:ext cx="4754879" cy="1691639"/>
          </a:xfrm>
          <a:prstGeom prst="rect">
            <a:avLst/>
          </a:prstGeom>
          <a:noFill/>
        </p:spPr>
        <p:txBody>
          <a:bodyPr wrap="square" anchor="t" lIns="36576" rIns="36576">
            <a:spAutoFit/>
          </a:bodyPr>
          <a:lstStyle/>
          <a:p>
            <a:pPr algn="l">
              <a:spcAft>
                <a:spcPts val="500"/>
              </a:spcAft>
            </a:pPr>
            <a:r>
              <a:rPr sz="1400" b="1">
                <a:solidFill>
                  <a:srgbClr val="6D28D9"/>
                </a:solidFill>
                <a:latin typeface="Calibri"/>
              </a:rPr>
              <a:t>• </a:t>
            </a:r>
            <a:r>
              <a:rPr sz="1400" b="0">
                <a:solidFill>
                  <a:srgbClr val="14142B"/>
                </a:solidFill>
                <a:latin typeface="Calibri"/>
              </a:rPr>
              <a:t>Shopping, banking, housing and travel requests (the FDB-v3 domains)</a:t>
            </a:r>
          </a:p>
          <a:p>
            <a:pPr algn="l">
              <a:spcAft>
                <a:spcPts val="500"/>
              </a:spcAft>
            </a:pPr>
            <a:r>
              <a:rPr sz="1400" b="1">
                <a:solidFill>
                  <a:srgbClr val="6D28D9"/>
                </a:solidFill>
                <a:latin typeface="Calibri"/>
              </a:rPr>
              <a:t>• </a:t>
            </a:r>
            <a:r>
              <a:rPr sz="1400" b="0">
                <a:solidFill>
                  <a:srgbClr val="14142B"/>
                </a:solidFill>
                <a:latin typeface="Calibri"/>
              </a:rPr>
              <a:t>Callers correct themselves (“Friday, no, Saturday”) and interrupt</a:t>
            </a:r>
          </a:p>
          <a:p>
            <a:pPr algn="l">
              <a:spcAft>
                <a:spcPts val="500"/>
              </a:spcAft>
            </a:pPr>
            <a:r>
              <a:rPr sz="1400" b="1">
                <a:solidFill>
                  <a:srgbClr val="6D28D9"/>
                </a:solidFill>
                <a:latin typeface="Calibri"/>
              </a:rPr>
              <a:t>• </a:t>
            </a:r>
            <a:r>
              <a:rPr sz="1400" b="0">
                <a:solidFill>
                  <a:srgbClr val="14142B"/>
                </a:solidFill>
                <a:latin typeface="Calibri"/>
              </a:rPr>
              <a:t>Only the corrected intent is executed</a:t>
            </a:r>
          </a:p>
        </p:txBody>
      </p:sp>
      <p:sp>
        <p:nvSpPr>
          <p:cNvPr id="9" name="Rounded Rectangle 8"/>
          <p:cNvSpPr/>
          <p:nvPr/>
        </p:nvSpPr>
        <p:spPr>
          <a:xfrm>
            <a:off x="841248" y="4389120"/>
            <a:ext cx="2496312" cy="1463040"/>
          </a:xfrm>
          <a:prstGeom prst="roundRect">
            <a:avLst>
              <a:gd name="adj" fmla="val 7000"/>
            </a:avLst>
          </a:prstGeom>
          <a:solidFill>
            <a:srgbClr val="F6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4480560"/>
            <a:ext cx="2240280" cy="411480"/>
          </a:xfrm>
          <a:prstGeom prst="rect">
            <a:avLst/>
          </a:prstGeom>
          <a:noFill/>
        </p:spPr>
        <p:txBody>
          <a:bodyPr wrap="square" anchor="t" lIns="36576" rIns="36576">
            <a:spAutoFit/>
          </a:bodyPr>
          <a:lstStyle/>
          <a:p>
            <a:pPr algn="l">
              <a:spcAft>
                <a:spcPts val="500"/>
              </a:spcAft>
            </a:pPr>
            <a:r>
              <a:rPr sz="1700" b="1">
                <a:solidFill>
                  <a:srgbClr val="2E8C84"/>
                </a:solidFill>
                <a:latin typeface="Calibri"/>
              </a:rPr>
              <a:t>Safety</a:t>
            </a:r>
          </a:p>
        </p:txBody>
      </p:sp>
      <p:sp>
        <p:nvSpPr>
          <p:cNvPr id="11" name="TextBox 10"/>
          <p:cNvSpPr txBox="1"/>
          <p:nvPr/>
        </p:nvSpPr>
        <p:spPr>
          <a:xfrm>
            <a:off x="978408" y="4892040"/>
            <a:ext cx="2240280" cy="1188720"/>
          </a:xfrm>
          <a:prstGeom prst="rect">
            <a:avLst/>
          </a:prstGeom>
          <a:noFill/>
        </p:spPr>
        <p:txBody>
          <a:bodyPr wrap="square" anchor="t" lIns="36576" rIns="36576">
            <a:spAutoFit/>
          </a:bodyPr>
          <a:lstStyle/>
          <a:p>
            <a:pPr algn="l">
              <a:spcAft>
                <a:spcPts val="500"/>
              </a:spcAft>
            </a:pPr>
            <a:r>
              <a:rPr sz="1300" b="0">
                <a:solidFill>
                  <a:srgbClr val="14142B"/>
                </a:solidFill>
                <a:latin typeface="Calibri"/>
              </a:rPr>
              <a:t>no stale state-changing action after the user changes their mind</a:t>
            </a:r>
          </a:p>
        </p:txBody>
      </p:sp>
      <p:sp>
        <p:nvSpPr>
          <p:cNvPr id="12" name="Rounded Rectangle 11"/>
          <p:cNvSpPr/>
          <p:nvPr/>
        </p:nvSpPr>
        <p:spPr>
          <a:xfrm>
            <a:off x="3520440" y="4389120"/>
            <a:ext cx="2496312" cy="1463040"/>
          </a:xfrm>
          <a:prstGeom prst="roundRect">
            <a:avLst>
              <a:gd name="adj" fmla="val 7000"/>
            </a:avLst>
          </a:prstGeom>
          <a:solidFill>
            <a:srgbClr val="F6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4480560"/>
            <a:ext cx="2240280" cy="411480"/>
          </a:xfrm>
          <a:prstGeom prst="rect">
            <a:avLst/>
          </a:prstGeom>
          <a:noFill/>
        </p:spPr>
        <p:txBody>
          <a:bodyPr wrap="square" anchor="t" lIns="36576" rIns="36576">
            <a:spAutoFit/>
          </a:bodyPr>
          <a:lstStyle/>
          <a:p>
            <a:pPr algn="l">
              <a:spcAft>
                <a:spcPts val="500"/>
              </a:spcAft>
            </a:pPr>
            <a:r>
              <a:rPr sz="1700" b="1">
                <a:solidFill>
                  <a:srgbClr val="2E8C84"/>
                </a:solidFill>
                <a:latin typeface="Calibri"/>
              </a:rPr>
              <a:t>Trust</a:t>
            </a:r>
          </a:p>
        </p:txBody>
      </p:sp>
      <p:sp>
        <p:nvSpPr>
          <p:cNvPr id="14" name="TextBox 13"/>
          <p:cNvSpPr txBox="1"/>
          <p:nvPr/>
        </p:nvSpPr>
        <p:spPr>
          <a:xfrm>
            <a:off x="3657600" y="4892040"/>
            <a:ext cx="2240280" cy="1188720"/>
          </a:xfrm>
          <a:prstGeom prst="rect">
            <a:avLst/>
          </a:prstGeom>
          <a:noFill/>
        </p:spPr>
        <p:txBody>
          <a:bodyPr wrap="square" anchor="t" lIns="36576" rIns="36576">
            <a:spAutoFit/>
          </a:bodyPr>
          <a:lstStyle/>
          <a:p>
            <a:pPr algn="l">
              <a:spcAft>
                <a:spcPts val="500"/>
              </a:spcAft>
            </a:pPr>
            <a:r>
              <a:rPr sz="1300" b="0">
                <a:solidFill>
                  <a:srgbClr val="14142B"/>
                </a:solidFill>
                <a:latin typeface="Calibri"/>
              </a:rPr>
              <a:t>every decision is journaled and can be replayed and audited</a:t>
            </a:r>
          </a:p>
        </p:txBody>
      </p:sp>
      <p:sp>
        <p:nvSpPr>
          <p:cNvPr id="15" name="Rounded Rectangle 14"/>
          <p:cNvSpPr/>
          <p:nvPr/>
        </p:nvSpPr>
        <p:spPr>
          <a:xfrm>
            <a:off x="6199632" y="4389120"/>
            <a:ext cx="2496312" cy="1463040"/>
          </a:xfrm>
          <a:prstGeom prst="roundRect">
            <a:avLst>
              <a:gd name="adj" fmla="val 7000"/>
            </a:avLst>
          </a:prstGeom>
          <a:solidFill>
            <a:srgbClr val="F6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4480560"/>
            <a:ext cx="2240280" cy="411480"/>
          </a:xfrm>
          <a:prstGeom prst="rect">
            <a:avLst/>
          </a:prstGeom>
          <a:noFill/>
        </p:spPr>
        <p:txBody>
          <a:bodyPr wrap="square" anchor="t" lIns="36576" rIns="36576">
            <a:spAutoFit/>
          </a:bodyPr>
          <a:lstStyle/>
          <a:p>
            <a:pPr algn="l">
              <a:spcAft>
                <a:spcPts val="500"/>
              </a:spcAft>
            </a:pPr>
            <a:r>
              <a:rPr sz="1700" b="1">
                <a:solidFill>
                  <a:srgbClr val="2E8C84"/>
                </a:solidFill>
                <a:latin typeface="Calibri"/>
              </a:rPr>
              <a:t>Cost</a:t>
            </a:r>
          </a:p>
        </p:txBody>
      </p:sp>
      <p:sp>
        <p:nvSpPr>
          <p:cNvPr id="17" name="TextBox 16"/>
          <p:cNvSpPr txBox="1"/>
          <p:nvPr/>
        </p:nvSpPr>
        <p:spPr>
          <a:xfrm>
            <a:off x="6336792" y="4892040"/>
            <a:ext cx="2240280" cy="1188720"/>
          </a:xfrm>
          <a:prstGeom prst="rect">
            <a:avLst/>
          </a:prstGeom>
          <a:noFill/>
        </p:spPr>
        <p:txBody>
          <a:bodyPr wrap="square" anchor="t" lIns="36576" rIns="36576">
            <a:spAutoFit/>
          </a:bodyPr>
          <a:lstStyle/>
          <a:p>
            <a:pPr algn="l">
              <a:spcAft>
                <a:spcPts val="500"/>
              </a:spcAft>
            </a:pPr>
            <a:r>
              <a:rPr sz="1300" b="0">
                <a:solidFill>
                  <a:srgbClr val="14142B"/>
                </a:solidFill>
                <a:latin typeface="Calibri"/>
              </a:rPr>
              <a:t>runs on local models and free tiers</a:t>
            </a:r>
          </a:p>
        </p:txBody>
      </p:sp>
      <p:sp>
        <p:nvSpPr>
          <p:cNvPr id="18" name="Rounded Rectangle 17"/>
          <p:cNvSpPr/>
          <p:nvPr/>
        </p:nvSpPr>
        <p:spPr>
          <a:xfrm>
            <a:off x="8878824" y="4389120"/>
            <a:ext cx="2496312" cy="1463040"/>
          </a:xfrm>
          <a:prstGeom prst="roundRect">
            <a:avLst>
              <a:gd name="adj" fmla="val 7000"/>
            </a:avLst>
          </a:prstGeom>
          <a:solidFill>
            <a:srgbClr val="F6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15984" y="4480560"/>
            <a:ext cx="2240280" cy="411480"/>
          </a:xfrm>
          <a:prstGeom prst="rect">
            <a:avLst/>
          </a:prstGeom>
          <a:noFill/>
        </p:spPr>
        <p:txBody>
          <a:bodyPr wrap="square" anchor="t" lIns="36576" rIns="36576">
            <a:spAutoFit/>
          </a:bodyPr>
          <a:lstStyle/>
          <a:p>
            <a:pPr algn="l">
              <a:spcAft>
                <a:spcPts val="500"/>
              </a:spcAft>
            </a:pPr>
            <a:r>
              <a:rPr sz="1700" b="1">
                <a:solidFill>
                  <a:srgbClr val="2E8C84"/>
                </a:solidFill>
                <a:latin typeface="Calibri"/>
              </a:rPr>
              <a:t>Portability</a:t>
            </a:r>
          </a:p>
        </p:txBody>
      </p:sp>
      <p:sp>
        <p:nvSpPr>
          <p:cNvPr id="20" name="TextBox 19"/>
          <p:cNvSpPr txBox="1"/>
          <p:nvPr/>
        </p:nvSpPr>
        <p:spPr>
          <a:xfrm>
            <a:off x="9015984" y="4892040"/>
            <a:ext cx="2240280" cy="1188720"/>
          </a:xfrm>
          <a:prstGeom prst="rect">
            <a:avLst/>
          </a:prstGeom>
          <a:noFill/>
        </p:spPr>
        <p:txBody>
          <a:bodyPr wrap="square" anchor="t" lIns="36576" rIns="36576">
            <a:spAutoFit/>
          </a:bodyPr>
          <a:lstStyle/>
          <a:p>
            <a:pPr algn="l">
              <a:spcAft>
                <a:spcPts val="500"/>
              </a:spcAft>
            </a:pPr>
            <a:r>
              <a:rPr sz="1300" b="0">
                <a:solidFill>
                  <a:srgbClr val="14142B"/>
                </a:solidFill>
                <a:latin typeface="Calibri"/>
              </a:rPr>
              <a:t>a new domain is new tool specs, not a new agent</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Rounded Rectangle 2"/>
          <p:cNvSpPr/>
          <p:nvPr/>
        </p:nvSpPr>
        <p:spPr>
          <a:xfrm>
            <a:off x="841248" y="1828800"/>
            <a:ext cx="3383280" cy="4343400"/>
          </a:xfrm>
          <a:prstGeom prst="roundRect">
            <a:avLst>
              <a:gd name="adj" fmla="val 7000"/>
            </a:avLst>
          </a:prstGeom>
          <a:solidFill>
            <a:srgbClr val="F1E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938528"/>
            <a:ext cx="3017520" cy="411480"/>
          </a:xfrm>
          <a:prstGeom prst="rect">
            <a:avLst/>
          </a:prstGeom>
          <a:noFill/>
        </p:spPr>
        <p:txBody>
          <a:bodyPr wrap="square" anchor="t" lIns="36576" rIns="36576">
            <a:spAutoFit/>
          </a:bodyPr>
          <a:lstStyle/>
          <a:p>
            <a:pPr algn="l">
              <a:spcAft>
                <a:spcPts val="500"/>
              </a:spcAft>
            </a:pPr>
            <a:r>
              <a:rPr sz="1800" b="1">
                <a:solidFill>
                  <a:srgbClr val="6D28D9"/>
                </a:solidFill>
                <a:latin typeface="Calibri"/>
              </a:rPr>
              <a:t>Innovation</a:t>
            </a:r>
          </a:p>
        </p:txBody>
      </p:sp>
      <p:sp>
        <p:nvSpPr>
          <p:cNvPr id="5" name="TextBox 4"/>
          <p:cNvSpPr txBox="1"/>
          <p:nvPr/>
        </p:nvSpPr>
        <p:spPr>
          <a:xfrm>
            <a:off x="1024128" y="2395728"/>
            <a:ext cx="3017520" cy="3703320"/>
          </a:xfrm>
          <a:prstGeom prst="rect">
            <a:avLst/>
          </a:prstGeom>
          <a:noFill/>
        </p:spPr>
        <p:txBody>
          <a:bodyPr wrap="square" anchor="t" lIns="36576" rIns="36576">
            <a:spAutoFit/>
          </a:bodyPr>
          <a:lstStyle/>
          <a:p>
            <a:pPr algn="l">
              <a:spcAft>
                <a:spcPts val="500"/>
              </a:spcAft>
            </a:pPr>
            <a:r>
              <a:rPr sz="1500" b="1">
                <a:solidFill>
                  <a:srgbClr val="6D28D9"/>
                </a:solidFill>
                <a:latin typeface="Calibri"/>
              </a:rPr>
              <a:t>• </a:t>
            </a:r>
            <a:r>
              <a:rPr sz="1500" b="0">
                <a:solidFill>
                  <a:srgbClr val="14142B"/>
                </a:solidFill>
                <a:latin typeface="Calibri"/>
              </a:rPr>
              <a:t>Generations: every speech onset or transcript makes older plans stale</a:t>
            </a:r>
          </a:p>
          <a:p>
            <a:pPr algn="l">
              <a:spcAft>
                <a:spcPts val="500"/>
              </a:spcAft>
            </a:pPr>
            <a:r>
              <a:rPr sz="1500" b="1">
                <a:solidFill>
                  <a:srgbClr val="6D28D9"/>
                </a:solidFill>
                <a:latin typeface="Calibri"/>
              </a:rPr>
              <a:t>• </a:t>
            </a:r>
            <a:r>
              <a:rPr sz="1500" b="0">
                <a:solidFill>
                  <a:srgbClr val="14142B"/>
                </a:solidFill>
                <a:latin typeface="Calibri"/>
              </a:rPr>
              <a:t>Reconcile gate: keep, supersede, revive or retry; dispatch only on settled intent</a:t>
            </a:r>
          </a:p>
          <a:p>
            <a:pPr algn="l">
              <a:spcAft>
                <a:spcPts val="500"/>
              </a:spcAft>
            </a:pPr>
            <a:r>
              <a:rPr sz="1500" b="1">
                <a:solidFill>
                  <a:srgbClr val="6D28D9"/>
                </a:solidFill>
                <a:latin typeface="Calibri"/>
              </a:rPr>
              <a:t>• </a:t>
            </a:r>
            <a:r>
              <a:rPr sz="1500" b="0">
                <a:solidFill>
                  <a:srgbClr val="14142B"/>
                </a:solidFill>
                <a:latin typeface="Calibri"/>
              </a:rPr>
              <a:t>Result admission: late results of superseded calls are rejected</a:t>
            </a:r>
          </a:p>
          <a:p>
            <a:pPr algn="l">
              <a:spcAft>
                <a:spcPts val="500"/>
              </a:spcAft>
            </a:pPr>
            <a:r>
              <a:rPr sz="1500" b="1">
                <a:solidFill>
                  <a:srgbClr val="6D28D9"/>
                </a:solidFill>
                <a:latin typeface="Calibri"/>
              </a:rPr>
              <a:t>• </a:t>
            </a:r>
            <a:r>
              <a:rPr sz="1500" b="0">
                <a:solidFill>
                  <a:srgbClr val="14142B"/>
                </a:solidFill>
                <a:latin typeface="Calibri"/>
              </a:rPr>
              <a:t>Completion guard and deterministic replay</a:t>
            </a:r>
          </a:p>
        </p:txBody>
      </p:sp>
      <p:sp>
        <p:nvSpPr>
          <p:cNvPr id="6" name="Rounded Rectangle 5"/>
          <p:cNvSpPr/>
          <p:nvPr/>
        </p:nvSpPr>
        <p:spPr>
          <a:xfrm>
            <a:off x="4407408" y="1828800"/>
            <a:ext cx="3383280" cy="4343400"/>
          </a:xfrm>
          <a:prstGeom prst="roundRect">
            <a:avLst>
              <a:gd name="adj" fmla="val 7000"/>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0288" y="1938528"/>
            <a:ext cx="3017520" cy="411480"/>
          </a:xfrm>
          <a:prstGeom prst="rect">
            <a:avLst/>
          </a:prstGeom>
          <a:noFill/>
        </p:spPr>
        <p:txBody>
          <a:bodyPr wrap="square" anchor="t" lIns="36576" rIns="36576">
            <a:spAutoFit/>
          </a:bodyPr>
          <a:lstStyle/>
          <a:p>
            <a:pPr algn="l">
              <a:spcAft>
                <a:spcPts val="500"/>
              </a:spcAft>
            </a:pPr>
            <a:r>
              <a:rPr sz="1800" b="1">
                <a:solidFill>
                  <a:srgbClr val="3F68DE"/>
                </a:solidFill>
                <a:latin typeface="Calibri"/>
              </a:rPr>
              <a:t>Results (local, unofficial)</a:t>
            </a:r>
          </a:p>
        </p:txBody>
      </p:sp>
      <p:sp>
        <p:nvSpPr>
          <p:cNvPr id="8" name="TextBox 7"/>
          <p:cNvSpPr txBox="1"/>
          <p:nvPr/>
        </p:nvSpPr>
        <p:spPr>
          <a:xfrm>
            <a:off x="4590288" y="2395728"/>
            <a:ext cx="3017520" cy="3703320"/>
          </a:xfrm>
          <a:prstGeom prst="rect">
            <a:avLst/>
          </a:prstGeom>
          <a:noFill/>
        </p:spPr>
        <p:txBody>
          <a:bodyPr wrap="square" anchor="t" lIns="36576" rIns="36576">
            <a:spAutoFit/>
          </a:bodyPr>
          <a:lstStyle/>
          <a:p>
            <a:pPr algn="l">
              <a:spcAft>
                <a:spcPts val="500"/>
              </a:spcAft>
            </a:pPr>
            <a:r>
              <a:rPr sz="1500" b="1">
                <a:solidFill>
                  <a:srgbClr val="6D28D9"/>
                </a:solidFill>
                <a:latin typeface="Calibri"/>
              </a:rPr>
              <a:t>• </a:t>
            </a:r>
            <a:r>
              <a:rPr sz="1500" b="0">
                <a:solidFill>
                  <a:srgbClr val="14142B"/>
                </a:solidFill>
                <a:latin typeface="Calibri"/>
              </a:rPr>
              <a:t>176 automated tests pass (2 skipped)</a:t>
            </a:r>
          </a:p>
          <a:p>
            <a:pPr algn="l">
              <a:spcAft>
                <a:spcPts val="500"/>
              </a:spcAft>
            </a:pPr>
            <a:r>
              <a:rPr sz="1500" b="1">
                <a:solidFill>
                  <a:srgbClr val="6D28D9"/>
                </a:solidFill>
                <a:latin typeface="Calibri"/>
              </a:rPr>
              <a:t>• </a:t>
            </a:r>
            <a:r>
              <a:rPr sz="1500" b="0">
                <a:solidFill>
                  <a:srgbClr val="14142B"/>
                </a:solidFill>
                <a:latin typeface="Calibri"/>
              </a:rPr>
              <a:t>6-case validation: pipeline 6/6, exact match 4/6 (2 STT errors)</a:t>
            </a:r>
          </a:p>
          <a:p>
            <a:pPr algn="l">
              <a:spcAft>
                <a:spcPts val="500"/>
              </a:spcAft>
            </a:pPr>
            <a:r>
              <a:rPr sz="1500" b="1">
                <a:solidFill>
                  <a:srgbClr val="6D28D9"/>
                </a:solidFill>
                <a:latin typeface="Calibri"/>
              </a:rPr>
              <a:t>• </a:t>
            </a:r>
            <a:r>
              <a:rPr sz="1500" b="0">
                <a:solidFill>
                  <a:srgbClr val="14142B"/>
                </a:solidFill>
                <a:latin typeface="Calibri"/>
              </a:rPr>
              <a:t>Partial FDB-v3 run, 34 of 100 recordings: 17/30 scored pass, exact match, not the gpt-4o judge</a:t>
            </a:r>
          </a:p>
          <a:p>
            <a:pPr algn="l">
              <a:spcAft>
                <a:spcPts val="500"/>
              </a:spcAft>
            </a:pPr>
            <a:r>
              <a:rPr sz="1500" b="1">
                <a:solidFill>
                  <a:srgbClr val="6D28D9"/>
                </a:solidFill>
                <a:latin typeface="Calibri"/>
              </a:rPr>
              <a:t>• </a:t>
            </a:r>
            <a:r>
              <a:rPr sz="1500" b="0">
                <a:solidFill>
                  <a:srgbClr val="14142B"/>
                </a:solidFill>
                <a:latin typeface="Calibri"/>
              </a:rPr>
              <a:t>4 infrastructure failures reported separately</a:t>
            </a:r>
          </a:p>
          <a:p>
            <a:pPr algn="l">
              <a:spcAft>
                <a:spcPts val="500"/>
              </a:spcAft>
            </a:pPr>
            <a:r>
              <a:rPr sz="1500" b="1">
                <a:solidFill>
                  <a:srgbClr val="6D28D9"/>
                </a:solidFill>
                <a:latin typeface="Calibri"/>
              </a:rPr>
              <a:t>• </a:t>
            </a:r>
            <a:r>
              <a:rPr sz="1500" b="0">
                <a:solidFill>
                  <a:srgbClr val="14142B"/>
                </a:solidFill>
                <a:latin typeface="Calibri"/>
              </a:rPr>
              <a:t>0 duplicate calls · self-correction 3/3 · 15 barge-ins handled</a:t>
            </a:r>
          </a:p>
        </p:txBody>
      </p:sp>
      <p:sp>
        <p:nvSpPr>
          <p:cNvPr id="9" name="Rounded Rectangle 8"/>
          <p:cNvSpPr/>
          <p:nvPr/>
        </p:nvSpPr>
        <p:spPr>
          <a:xfrm>
            <a:off x="7973568" y="1828800"/>
            <a:ext cx="3383280" cy="4343400"/>
          </a:xfrm>
          <a:prstGeom prst="roundRect">
            <a:avLst>
              <a:gd name="adj" fmla="val 7000"/>
            </a:avLst>
          </a:prstGeom>
          <a:solidFill>
            <a:srgbClr val="FD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6448" y="1938528"/>
            <a:ext cx="3017520" cy="411480"/>
          </a:xfrm>
          <a:prstGeom prst="rect">
            <a:avLst/>
          </a:prstGeom>
          <a:noFill/>
        </p:spPr>
        <p:txBody>
          <a:bodyPr wrap="square" anchor="t" lIns="36576" rIns="36576">
            <a:spAutoFit/>
          </a:bodyPr>
          <a:lstStyle/>
          <a:p>
            <a:pPr algn="l">
              <a:spcAft>
                <a:spcPts val="500"/>
              </a:spcAft>
            </a:pPr>
            <a:r>
              <a:rPr sz="1800" b="1">
                <a:solidFill>
                  <a:srgbClr val="B3261E"/>
                </a:solidFill>
                <a:latin typeface="Calibri"/>
              </a:rPr>
              <a:t>Limitations</a:t>
            </a:r>
          </a:p>
        </p:txBody>
      </p:sp>
      <p:sp>
        <p:nvSpPr>
          <p:cNvPr id="11" name="TextBox 10"/>
          <p:cNvSpPr txBox="1"/>
          <p:nvPr/>
        </p:nvSpPr>
        <p:spPr>
          <a:xfrm>
            <a:off x="8156448" y="2395728"/>
            <a:ext cx="3017520" cy="3703320"/>
          </a:xfrm>
          <a:prstGeom prst="rect">
            <a:avLst/>
          </a:prstGeom>
          <a:noFill/>
        </p:spPr>
        <p:txBody>
          <a:bodyPr wrap="square" anchor="t" lIns="36576" rIns="36576">
            <a:spAutoFit/>
          </a:bodyPr>
          <a:lstStyle/>
          <a:p>
            <a:pPr algn="l">
              <a:spcAft>
                <a:spcPts val="500"/>
              </a:spcAft>
            </a:pPr>
            <a:r>
              <a:rPr sz="1500" b="1">
                <a:solidFill>
                  <a:srgbClr val="6D28D9"/>
                </a:solidFill>
                <a:latin typeface="Calibri"/>
              </a:rPr>
              <a:t>• </a:t>
            </a:r>
            <a:r>
              <a:rPr sz="1500" b="0">
                <a:solidFill>
                  <a:srgbClr val="14142B"/>
                </a:solidFill>
                <a:latin typeface="Calibri"/>
              </a:rPr>
              <a:t>CPU Whisper base.en: mishears IDs and rare names; 2.5–8 s per turn</a:t>
            </a:r>
          </a:p>
          <a:p>
            <a:pPr algn="l">
              <a:spcAft>
                <a:spcPts val="500"/>
              </a:spcAft>
            </a:pPr>
            <a:r>
              <a:rPr sz="1500" b="1">
                <a:solidFill>
                  <a:srgbClr val="6D28D9"/>
                </a:solidFill>
                <a:latin typeface="Calibri"/>
              </a:rPr>
              <a:t>• </a:t>
            </a:r>
            <a:r>
              <a:rPr sz="1500" b="0">
                <a:solidFill>
                  <a:srgbClr val="14142B"/>
                </a:solidFill>
                <a:latin typeface="Calibri"/>
              </a:rPr>
              <a:t>Free-tier planner: some wrong or extra tool choices; 7–19 s spikes</a:t>
            </a:r>
          </a:p>
          <a:p>
            <a:pPr algn="l">
              <a:spcAft>
                <a:spcPts val="500"/>
              </a:spcAft>
            </a:pPr>
            <a:r>
              <a:rPr sz="1500" b="1">
                <a:solidFill>
                  <a:srgbClr val="6D28D9"/>
                </a:solidFill>
                <a:latin typeface="Calibri"/>
              </a:rPr>
              <a:t>• </a:t>
            </a:r>
            <a:r>
              <a:rPr sz="1500" b="0">
                <a:solidFill>
                  <a:srgbClr val="14142B"/>
                </a:solidFill>
                <a:latin typeface="Calibri"/>
              </a:rPr>
              <a:t>Median perceived latency 7.5 s (p90 21.5 s) on CPU</a:t>
            </a:r>
          </a:p>
          <a:p>
            <a:pPr algn="l">
              <a:spcAft>
                <a:spcPts val="500"/>
              </a:spcAft>
            </a:pPr>
            <a:r>
              <a:rPr sz="1500" b="1">
                <a:solidFill>
                  <a:srgbClr val="6D28D9"/>
                </a:solidFill>
                <a:latin typeface="Calibri"/>
              </a:rPr>
              <a:t>• </a:t>
            </a:r>
            <a:r>
              <a:rPr sz="1500" b="0">
                <a:solidFill>
                  <a:srgbClr val="14142B"/>
                </a:solidFill>
                <a:latin typeface="Calibri"/>
              </a:rPr>
              <a:t>Benchmark run incomplete and not officially judged</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lstStyle/>
          <a:p>
            <a:pPr>
              <a:spcAft>
                <a:spcPts val="1000"/>
              </a:spcAft>
            </a:pPr>
            <a:r>
              <a:rPr sz="1900" b="1">
                <a:solidFill>
                  <a:srgbClr val="14142B"/>
                </a:solidFill>
                <a:latin typeface="Calibri"/>
              </a:rPr>
              <a:t>Faster, more accurate speech recognition: </a:t>
            </a:r>
            <a:r>
              <a:rPr sz="1900" b="0">
                <a:solidFill>
                  <a:srgbClr val="63637E"/>
                </a:solidFill>
                <a:latin typeface="Calibri"/>
              </a:rPr>
              <a:t>GPU or streaming STT, plus ID-aware post-processing for order numbers and names.</a:t>
            </a:r>
            <a:endParaRPr lang="en-IN" dirty="0"/>
          </a:p>
          <a:p>
            <a:pPr>
              <a:spcAft>
                <a:spcPts val="1000"/>
              </a:spcAft>
            </a:pPr>
            <a:r>
              <a:rPr sz="1900" b="1">
                <a:solidFill>
                  <a:srgbClr val="14142B"/>
                </a:solidFill>
                <a:latin typeface="Calibri"/>
              </a:rPr>
              <a:t>Lower latency: </a:t>
            </a:r>
            <a:r>
              <a:rPr sz="1900" b="0">
                <a:solidFill>
                  <a:srgbClr val="63637E"/>
                </a:solidFill>
                <a:latin typeface="Calibri"/>
              </a:rPr>
              <a:t>speculative execution of read-only tools while the user is still speaking, committed only if the intent holds.</a:t>
            </a:r>
          </a:p>
          <a:p>
            <a:pPr>
              <a:spcAft>
                <a:spcPts val="1000"/>
              </a:spcAft>
            </a:pPr>
            <a:r>
              <a:rPr sz="1900" b="1">
                <a:solidFill>
                  <a:srgbClr val="14142B"/>
                </a:solidFill>
                <a:latin typeface="Calibri"/>
              </a:rPr>
              <a:t>Complete evaluation: </a:t>
            </a:r>
            <a:r>
              <a:rPr sz="1900" b="0">
                <a:solidFill>
                  <a:srgbClr val="63637E"/>
                </a:solidFill>
                <a:latin typeface="Calibri"/>
              </a:rPr>
              <a:t>the full 100-recording FDB-v3 run with the official judge.</a:t>
            </a:r>
          </a:p>
          <a:p>
            <a:pPr>
              <a:spcAft>
                <a:spcPts val="1000"/>
              </a:spcAft>
            </a:pPr>
            <a:r>
              <a:rPr sz="1900" b="1">
                <a:solidFill>
                  <a:srgbClr val="14142B"/>
                </a:solidFill>
                <a:latin typeface="Calibri"/>
              </a:rPr>
              <a:t>Richer in-car domain: </a:t>
            </a:r>
            <a:r>
              <a:rPr sz="1900" b="0">
                <a:solidFill>
                  <a:srgbClr val="63637E"/>
                </a:solidFill>
                <a:latin typeface="Calibri"/>
              </a:rPr>
              <a:t>add stops, reroute on traffic and confirm state-changing actions, all on the same kernel.</a:t>
            </a:r>
          </a:p>
          <a:p>
            <a:pPr>
              <a:spcAft>
                <a:spcPts val="1000"/>
              </a:spcAft>
            </a:pPr>
            <a:r>
              <a:rPr sz="1900" b="1">
                <a:solidFill>
                  <a:srgbClr val="14142B"/>
                </a:solidFill>
                <a:latin typeface="Calibri"/>
              </a:rPr>
              <a:t>Production hardening: </a:t>
            </a:r>
            <a:r>
              <a:rPr sz="1900" b="0">
                <a:solidFill>
                  <a:srgbClr val="63637E"/>
                </a:solidFill>
                <a:latin typeface="Calibri"/>
              </a:rPr>
              <a:t>multi-session load tests and journal-based regression suites built from real sessions.</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Rounded Rectangle 2"/>
          <p:cNvSpPr/>
          <p:nvPr/>
        </p:nvSpPr>
        <p:spPr>
          <a:xfrm>
            <a:off x="841248" y="1828800"/>
            <a:ext cx="3383280" cy="2011680"/>
          </a:xfrm>
          <a:prstGeom prst="roundRect">
            <a:avLst>
              <a:gd name="adj" fmla="val 7000"/>
            </a:avLst>
          </a:prstGeom>
          <a:solidFill>
            <a:srgbClr val="F1E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938528"/>
            <a:ext cx="3017520" cy="457200"/>
          </a:xfrm>
          <a:prstGeom prst="rect">
            <a:avLst/>
          </a:prstGeom>
          <a:noFill/>
        </p:spPr>
        <p:txBody>
          <a:bodyPr wrap="square" anchor="t" lIns="36576" rIns="36576">
            <a:spAutoFit/>
          </a:bodyPr>
          <a:lstStyle/>
          <a:p>
            <a:pPr algn="l">
              <a:spcAft>
                <a:spcPts val="500"/>
              </a:spcAft>
            </a:pPr>
            <a:r>
              <a:rPr sz="1700" b="1">
                <a:solidFill>
                  <a:srgbClr val="6D28D9"/>
                </a:solidFill>
                <a:latin typeface="Calibri"/>
              </a:rPr>
              <a:t>Deterministic and replayable</a:t>
            </a:r>
          </a:p>
        </p:txBody>
      </p:sp>
      <p:sp>
        <p:nvSpPr>
          <p:cNvPr id="5" name="TextBox 4"/>
          <p:cNvSpPr txBox="1"/>
          <p:nvPr/>
        </p:nvSpPr>
        <p:spPr>
          <a:xfrm>
            <a:off x="1024128" y="2423160"/>
            <a:ext cx="3017520" cy="1371600"/>
          </a:xfrm>
          <a:prstGeom prst="rect">
            <a:avLst/>
          </a:prstGeom>
          <a:noFill/>
        </p:spPr>
        <p:txBody>
          <a:bodyPr wrap="square" anchor="t" lIns="36576" rIns="36576">
            <a:spAutoFit/>
          </a:bodyPr>
          <a:lstStyle/>
          <a:p>
            <a:pPr algn="l">
              <a:spcAft>
                <a:spcPts val="500"/>
              </a:spcAft>
            </a:pPr>
            <a:r>
              <a:rPr sz="1400" b="0">
                <a:solidFill>
                  <a:srgbClr val="14142B"/>
                </a:solidFill>
                <a:latin typeface="Calibri"/>
              </a:rPr>
              <a:t>The kernel has no I/O, clock or randomness; every session journal replays with identical decisions.</a:t>
            </a:r>
          </a:p>
        </p:txBody>
      </p:sp>
      <p:sp>
        <p:nvSpPr>
          <p:cNvPr id="6" name="Rounded Rectangle 5"/>
          <p:cNvSpPr/>
          <p:nvPr/>
        </p:nvSpPr>
        <p:spPr>
          <a:xfrm>
            <a:off x="4407408" y="1828800"/>
            <a:ext cx="3383280" cy="2011680"/>
          </a:xfrm>
          <a:prstGeom prst="roundRect">
            <a:avLst>
              <a:gd name="adj" fmla="val 7000"/>
            </a:avLst>
          </a:prstGeom>
          <a:solidFill>
            <a:srgbClr val="EA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0288" y="1938528"/>
            <a:ext cx="3017520" cy="457200"/>
          </a:xfrm>
          <a:prstGeom prst="rect">
            <a:avLst/>
          </a:prstGeom>
          <a:noFill/>
        </p:spPr>
        <p:txBody>
          <a:bodyPr wrap="square" anchor="t" lIns="36576" rIns="36576">
            <a:spAutoFit/>
          </a:bodyPr>
          <a:lstStyle/>
          <a:p>
            <a:pPr algn="l">
              <a:spcAft>
                <a:spcPts val="500"/>
              </a:spcAft>
            </a:pPr>
            <a:r>
              <a:rPr sz="1700" b="1">
                <a:solidFill>
                  <a:srgbClr val="3F68DE"/>
                </a:solidFill>
                <a:latin typeface="Calibri"/>
              </a:rPr>
              <a:t>Honest evaluation</a:t>
            </a:r>
          </a:p>
        </p:txBody>
      </p:sp>
      <p:sp>
        <p:nvSpPr>
          <p:cNvPr id="8" name="TextBox 7"/>
          <p:cNvSpPr txBox="1"/>
          <p:nvPr/>
        </p:nvSpPr>
        <p:spPr>
          <a:xfrm>
            <a:off x="4590288" y="2423160"/>
            <a:ext cx="3017520" cy="1371600"/>
          </a:xfrm>
          <a:prstGeom prst="rect">
            <a:avLst/>
          </a:prstGeom>
          <a:noFill/>
        </p:spPr>
        <p:txBody>
          <a:bodyPr wrap="square" anchor="t" lIns="36576" rIns="36576">
            <a:spAutoFit/>
          </a:bodyPr>
          <a:lstStyle/>
          <a:p>
            <a:pPr algn="l">
              <a:spcAft>
                <a:spcPts val="500"/>
              </a:spcAft>
            </a:pPr>
            <a:r>
              <a:rPr sz="1400" b="0">
                <a:solidFill>
                  <a:srgbClr val="14142B"/>
                </a:solidFill>
                <a:latin typeface="Calibri"/>
              </a:rPr>
              <a:t>Partial results labelled as partial; infrastructure failures separated from agent failures.</a:t>
            </a:r>
          </a:p>
        </p:txBody>
      </p:sp>
      <p:sp>
        <p:nvSpPr>
          <p:cNvPr id="9" name="Rounded Rectangle 8"/>
          <p:cNvSpPr/>
          <p:nvPr/>
        </p:nvSpPr>
        <p:spPr>
          <a:xfrm>
            <a:off x="7973568" y="1828800"/>
            <a:ext cx="3383280" cy="2011680"/>
          </a:xfrm>
          <a:prstGeom prst="roundRect">
            <a:avLst>
              <a:gd name="adj" fmla="val 7000"/>
            </a:avLst>
          </a:prstGeom>
          <a:solidFill>
            <a:srgbClr val="E6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6448" y="1938528"/>
            <a:ext cx="3017520" cy="457200"/>
          </a:xfrm>
          <a:prstGeom prst="rect">
            <a:avLst/>
          </a:prstGeom>
          <a:noFill/>
        </p:spPr>
        <p:txBody>
          <a:bodyPr wrap="square" anchor="t" lIns="36576" rIns="36576">
            <a:spAutoFit/>
          </a:bodyPr>
          <a:lstStyle/>
          <a:p>
            <a:pPr algn="l">
              <a:spcAft>
                <a:spcPts val="500"/>
              </a:spcAft>
            </a:pPr>
            <a:r>
              <a:rPr sz="1700" b="1">
                <a:solidFill>
                  <a:srgbClr val="2E8C84"/>
                </a:solidFill>
                <a:latin typeface="Calibri"/>
              </a:rPr>
              <a:t>No benchmark leakage</a:t>
            </a:r>
          </a:p>
        </p:txBody>
      </p:sp>
      <p:sp>
        <p:nvSpPr>
          <p:cNvPr id="11" name="TextBox 10"/>
          <p:cNvSpPr txBox="1"/>
          <p:nvPr/>
        </p:nvSpPr>
        <p:spPr>
          <a:xfrm>
            <a:off x="8156448" y="2423160"/>
            <a:ext cx="3017520" cy="1371600"/>
          </a:xfrm>
          <a:prstGeom prst="rect">
            <a:avLst/>
          </a:prstGeom>
          <a:noFill/>
        </p:spPr>
        <p:txBody>
          <a:bodyPr wrap="square" anchor="t" lIns="36576" rIns="36576">
            <a:spAutoFit/>
          </a:bodyPr>
          <a:lstStyle/>
          <a:p>
            <a:pPr algn="l">
              <a:spcAft>
                <a:spcPts val="500"/>
              </a:spcAft>
            </a:pPr>
            <a:r>
              <a:rPr sz="1400" b="0">
                <a:solidFill>
                  <a:srgbClr val="14142B"/>
                </a:solidFill>
                <a:latin typeface="Calibri"/>
              </a:rPr>
              <a:t>An integrity test fails the build if benchmark IDs or answers appear in code, prompts or tests.</a:t>
            </a:r>
          </a:p>
        </p:txBody>
      </p:sp>
      <p:sp>
        <p:nvSpPr>
          <p:cNvPr id="12" name="Rounded Rectangle 11"/>
          <p:cNvSpPr/>
          <p:nvPr/>
        </p:nvSpPr>
        <p:spPr>
          <a:xfrm>
            <a:off x="841248" y="4023360"/>
            <a:ext cx="3383280" cy="2011680"/>
          </a:xfrm>
          <a:prstGeom prst="roundRect">
            <a:avLst>
              <a:gd name="adj" fmla="val 7000"/>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133088"/>
            <a:ext cx="3017520" cy="457200"/>
          </a:xfrm>
          <a:prstGeom prst="rect">
            <a:avLst/>
          </a:prstGeom>
          <a:noFill/>
        </p:spPr>
        <p:txBody>
          <a:bodyPr wrap="square" anchor="t" lIns="36576" rIns="36576">
            <a:spAutoFit/>
          </a:bodyPr>
          <a:lstStyle/>
          <a:p>
            <a:pPr algn="l">
              <a:spcAft>
                <a:spcPts val="500"/>
              </a:spcAft>
            </a:pPr>
            <a:r>
              <a:rPr sz="1700" b="1">
                <a:solidFill>
                  <a:srgbClr val="9A5B00"/>
                </a:solidFill>
                <a:latin typeface="Calibri"/>
              </a:rPr>
              <a:t>Zero-cost stack</a:t>
            </a:r>
          </a:p>
        </p:txBody>
      </p:sp>
      <p:sp>
        <p:nvSpPr>
          <p:cNvPr id="14" name="TextBox 13"/>
          <p:cNvSpPr txBox="1"/>
          <p:nvPr/>
        </p:nvSpPr>
        <p:spPr>
          <a:xfrm>
            <a:off x="1024128" y="4617720"/>
            <a:ext cx="3017520" cy="1371600"/>
          </a:xfrm>
          <a:prstGeom prst="rect">
            <a:avLst/>
          </a:prstGeom>
          <a:noFill/>
        </p:spPr>
        <p:txBody>
          <a:bodyPr wrap="square" anchor="t" lIns="36576" rIns="36576">
            <a:spAutoFit/>
          </a:bodyPr>
          <a:lstStyle/>
          <a:p>
            <a:pPr algn="l">
              <a:spcAft>
                <a:spcPts val="500"/>
              </a:spcAft>
            </a:pPr>
            <a:r>
              <a:rPr sz="1400" b="0">
                <a:solidFill>
                  <a:srgbClr val="14142B"/>
                </a:solidFill>
                <a:latin typeface="Calibri"/>
              </a:rPr>
              <a:t>Local Whisper and Piper, free-tier Gemini, LiveKit free plan: no billing anywhere.</a:t>
            </a:r>
          </a:p>
        </p:txBody>
      </p:sp>
      <p:sp>
        <p:nvSpPr>
          <p:cNvPr id="15" name="Rounded Rectangle 14"/>
          <p:cNvSpPr/>
          <p:nvPr/>
        </p:nvSpPr>
        <p:spPr>
          <a:xfrm>
            <a:off x="4407408" y="4023360"/>
            <a:ext cx="3383280" cy="2011680"/>
          </a:xfrm>
          <a:prstGeom prst="roundRect">
            <a:avLst>
              <a:gd name="adj" fmla="val 7000"/>
            </a:avLst>
          </a:prstGeom>
          <a:solidFill>
            <a:srgbClr val="FD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4133088"/>
            <a:ext cx="3017520" cy="457200"/>
          </a:xfrm>
          <a:prstGeom prst="rect">
            <a:avLst/>
          </a:prstGeom>
          <a:noFill/>
        </p:spPr>
        <p:txBody>
          <a:bodyPr wrap="square" anchor="t" lIns="36576" rIns="36576">
            <a:spAutoFit/>
          </a:bodyPr>
          <a:lstStyle/>
          <a:p>
            <a:pPr algn="l">
              <a:spcAft>
                <a:spcPts val="500"/>
              </a:spcAft>
            </a:pPr>
            <a:r>
              <a:rPr sz="1700" b="1">
                <a:solidFill>
                  <a:srgbClr val="B3261E"/>
                </a:solidFill>
                <a:latin typeface="Calibri"/>
              </a:rPr>
              <a:t>Real-time safety</a:t>
            </a:r>
          </a:p>
        </p:txBody>
      </p:sp>
      <p:sp>
        <p:nvSpPr>
          <p:cNvPr id="17" name="TextBox 16"/>
          <p:cNvSpPr txBox="1"/>
          <p:nvPr/>
        </p:nvSpPr>
        <p:spPr>
          <a:xfrm>
            <a:off x="4590288" y="4617720"/>
            <a:ext cx="3017520" cy="1371600"/>
          </a:xfrm>
          <a:prstGeom prst="rect">
            <a:avLst/>
          </a:prstGeom>
          <a:noFill/>
        </p:spPr>
        <p:txBody>
          <a:bodyPr wrap="square" anchor="t" lIns="36576" rIns="36576">
            <a:spAutoFit/>
          </a:bodyPr>
          <a:lstStyle/>
          <a:p>
            <a:pPr algn="l">
              <a:spcAft>
                <a:spcPts val="500"/>
              </a:spcAft>
            </a:pPr>
            <a:r>
              <a:rPr sz="1400" b="0">
                <a:solidFill>
                  <a:srgbClr val="14142B"/>
                </a:solidFill>
                <a:latin typeface="Calibri"/>
              </a:rPr>
              <a:t>STT runs in its own process so it cannot stall the audio loop; dispatch waits for pending transcripts.</a:t>
            </a:r>
          </a:p>
        </p:txBody>
      </p:sp>
      <p:sp>
        <p:nvSpPr>
          <p:cNvPr id="18" name="Rounded Rectangle 17"/>
          <p:cNvSpPr/>
          <p:nvPr/>
        </p:nvSpPr>
        <p:spPr>
          <a:xfrm>
            <a:off x="7973568" y="4023360"/>
            <a:ext cx="3383280" cy="2011680"/>
          </a:xfrm>
          <a:prstGeom prst="roundRect">
            <a:avLst>
              <a:gd name="adj" fmla="val 7000"/>
            </a:avLst>
          </a:prstGeom>
          <a:solidFill>
            <a:srgbClr val="F6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6448" y="4133088"/>
            <a:ext cx="3017520" cy="457200"/>
          </a:xfrm>
          <a:prstGeom prst="rect">
            <a:avLst/>
          </a:prstGeom>
          <a:noFill/>
        </p:spPr>
        <p:txBody>
          <a:bodyPr wrap="square" anchor="t" lIns="36576" rIns="36576">
            <a:spAutoFit/>
          </a:bodyPr>
          <a:lstStyle/>
          <a:p>
            <a:pPr algn="l">
              <a:spcAft>
                <a:spcPts val="500"/>
              </a:spcAft>
            </a:pPr>
            <a:r>
              <a:rPr sz="1700" b="1">
                <a:solidFill>
                  <a:srgbClr val="14142B"/>
                </a:solidFill>
                <a:latin typeface="Calibri"/>
              </a:rPr>
              <a:t>Transparent demo</a:t>
            </a:r>
          </a:p>
        </p:txBody>
      </p:sp>
      <p:sp>
        <p:nvSpPr>
          <p:cNvPr id="20" name="TextBox 19"/>
          <p:cNvSpPr txBox="1"/>
          <p:nvPr/>
        </p:nvSpPr>
        <p:spPr>
          <a:xfrm>
            <a:off x="8156448" y="4617720"/>
            <a:ext cx="3017520" cy="1371600"/>
          </a:xfrm>
          <a:prstGeom prst="rect">
            <a:avLst/>
          </a:prstGeom>
          <a:noFill/>
        </p:spPr>
        <p:txBody>
          <a:bodyPr wrap="square" anchor="t" lIns="36576" rIns="36576">
            <a:spAutoFit/>
          </a:bodyPr>
          <a:lstStyle/>
          <a:p>
            <a:pPr algn="l">
              <a:spcAft>
                <a:spcPts val="500"/>
              </a:spcAft>
            </a:pPr>
            <a:r>
              <a:rPr sz="1400" b="0">
                <a:solidFill>
                  <a:srgbClr val="14142B"/>
                </a:solidFill>
                <a:latin typeface="Calibri"/>
              </a:rPr>
              <a:t>The UI renders the real kernel journal: no scripted animations, and replay proves it.</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lang="en-US" sz="2200" dirty="0">
                <a:solidFill>
                  <a:srgbClr val="63637E"/>
                </a:solidFill>
                <a:latin typeface="Calibri" pitchFamily="34" charset="0"/>
                <a:ea typeface="Calibri" pitchFamily="34" charset="-122"/>
                <a:cs typeface="Calibri" pitchFamily="34" charset="-120"/>
              </a:rPr>
              <a:t>Working prototype code — public or shared GitHub repo (Y/N)</a:t>
            </a:r>
            <a:r>
              <a:rPr lang="en-US" sz="2200" dirty="0" b="1">
                <a:solidFill>
                  <a:srgbClr val="6D28D9"/>
                </a:solidFill>
                <a:latin typeface="Calibri" pitchFamily="34" charset="0"/>
                <a:ea typeface="Calibri" pitchFamily="34" charset="-122"/>
                <a:cs typeface="Calibri" pitchFamily="34" charset="-120"/>
              </a:rPr>
              <a:t>  Y · https://github.com/CheralathanM/Prism</a:t>
            </a:r>
            <a:endParaRPr lang="en-US" sz="2800" dirty="0"/>
          </a:p>
          <a:p>
            <a:pPr marL="177800" indent="-177800">
              <a:spcAft>
                <a:spcPts val="500"/>
              </a:spcAft>
              <a:buSzPct val="100000"/>
              <a:buChar char="•"/>
            </a:pPr>
            <a:r>
              <a:rPr lang="en-US" sz="2200" dirty="0">
                <a:solidFill>
                  <a:srgbClr val="63637E"/>
                </a:solidFill>
                <a:latin typeface="Calibri" pitchFamily="34" charset="0"/>
                <a:ea typeface="Calibri" pitchFamily="34" charset="-122"/>
                <a:cs typeface="Calibri" pitchFamily="34" charset="-120"/>
              </a:rPr>
              <a:t>README with reproducible setup instructions (Y/N)</a:t>
            </a:r>
            <a:r>
              <a:rPr lang="en-US" sz="2200" dirty="0" b="1">
                <a:solidFill>
                  <a:srgbClr val="6D28D9"/>
                </a:solidFill>
                <a:latin typeface="Calibri" pitchFamily="34" charset="0"/>
                <a:ea typeface="Calibri" pitchFamily="34" charset="-122"/>
                <a:cs typeface="Calibri" pitchFamily="34" charset="-120"/>
              </a:rPr>
              <a:t>  Y · README.md + scripts/reproduce.sh</a:t>
            </a:r>
            <a:endParaRPr lang="en-US" sz="2800" dirty="0"/>
          </a:p>
          <a:p>
            <a:pPr marL="177800" indent="-177800">
              <a:spcAft>
                <a:spcPts val="500"/>
              </a:spcAft>
              <a:buSzPct val="100000"/>
              <a:buChar char="•"/>
            </a:pPr>
            <a:r>
              <a:rPr lang="en-US" sz="2200" dirty="0">
                <a:solidFill>
                  <a:srgbClr val="63637E"/>
                </a:solidFill>
                <a:latin typeface="Calibri" pitchFamily="34" charset="0"/>
                <a:ea typeface="Calibri" pitchFamily="34" charset="-122"/>
                <a:cs typeface="Calibri" pitchFamily="34" charset="-120"/>
              </a:rPr>
              <a:t>Demo video, max 5 minutes (YouTube or Drive link)</a:t>
            </a:r>
            <a:r>
              <a:rPr lang="en-US" sz="2200" dirty="0" b="1">
                <a:solidFill>
                  <a:srgbClr val="6D28D9"/>
                </a:solidFill>
                <a:latin typeface="Calibri" pitchFamily="34" charset="0"/>
                <a:ea typeface="Calibri" pitchFamily="34" charset="-122"/>
                <a:cs typeface="Calibri" pitchFamily="34" charset="-120"/>
              </a:rPr>
              <a:t>  Y · https://youtu.be/sMvY18ipvdg</a:t>
            </a:r>
            <a:endParaRPr lang="en-US" sz="2800" dirty="0"/>
          </a:p>
          <a:p>
            <a:pPr marL="177800" indent="-177800">
              <a:spcAft>
                <a:spcPts val="500"/>
              </a:spcAft>
              <a:buSzPct val="100000"/>
              <a:buChar char="•"/>
            </a:pPr>
            <a:r>
              <a:rPr lang="en-US" sz="2200" dirty="0">
                <a:solidFill>
                  <a:srgbClr val="63637E"/>
                </a:solidFill>
                <a:latin typeface="Calibri" pitchFamily="34" charset="0"/>
                <a:ea typeface="Calibri" pitchFamily="34" charset="-122"/>
                <a:cs typeface="Calibri" pitchFamily="34" charset="-120"/>
              </a:rPr>
              <a:t>Presentation file (PPT or PDF) (Y/N)</a:t>
            </a:r>
            <a:r>
              <a:rPr lang="en-US" sz="2200" dirty="0" b="1">
                <a:solidFill>
                  <a:srgbClr val="6D28D9"/>
                </a:solidFill>
                <a:latin typeface="Calibri" pitchFamily="34" charset="0"/>
                <a:ea typeface="Calibri" pitchFamily="34" charset="-122"/>
                <a:cs typeface="Calibri" pitchFamily="34" charset="-120"/>
              </a:rPr>
              <a:t>  Y · this deck</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Interruptible real-time voice agent: Theme 05 submission</dc:title>
  <dc:creator>Cheralathan</dc:creator>
  <cp:lastModifiedBy>Cheralathan</cp:lastModifiedBy>
  <cp:revision>6</cp:revision>
  <dcterms:created xsi:type="dcterms:W3CDTF">2026-09-07T12:01:01Z</dcterms:created>
  <dcterms:modified xsi:type="dcterms:W3CDTF">2026-09-30T23:39:39Z</dcterms:modified>
  <dc:description/>
  <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